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0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75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4B2AA6">
              <a:alpha val="45000"/>
            </a:srgbClr>
          </a:solidFill>
          <a:ln/>
        </p:spPr>
      </p:sp>
      <p:sp>
        <p:nvSpPr>
          <p:cNvPr id="3" name="Shape 1"/>
          <p:cNvSpPr/>
          <p:nvPr/>
        </p:nvSpPr>
        <p:spPr>
          <a:xfrm>
            <a:off x="-2286000" y="4206240"/>
            <a:ext cx="5486400" cy="5486400"/>
          </a:xfrm>
          <a:prstGeom prst="ellipse">
            <a:avLst/>
          </a:prstGeom>
          <a:solidFill>
            <a:srgbClr val="6C3CE9">
              <a:alpha val="30000"/>
            </a:srgbClr>
          </a:solidFill>
          <a:ln/>
        </p:spPr>
      </p:sp>
      <p:sp>
        <p:nvSpPr>
          <p:cNvPr id="4" name="Shape 2"/>
          <p:cNvSpPr/>
          <p:nvPr/>
        </p:nvSpPr>
        <p:spPr>
          <a:xfrm>
            <a:off x="8321040" y="1005840"/>
            <a:ext cx="960120" cy="2331720"/>
          </a:xfrm>
          <a:prstGeom prst="roundRect">
            <a:avLst>
              <a:gd name="adj" fmla="val 5714"/>
            </a:avLst>
          </a:prstGeom>
          <a:solidFill>
            <a:srgbClr val="8E77D6">
              <a:alpha val="85000"/>
            </a:srgbClr>
          </a:solidFill>
          <a:ln w="19050">
            <a:solidFill>
              <a:srgbClr val="FFFFFF">
                <a:alpha val="60000"/>
              </a:srgbClr>
            </a:solidFill>
            <a:prstDash val="solid"/>
          </a:ln>
        </p:spPr>
      </p:sp>
      <p:sp>
        <p:nvSpPr>
          <p:cNvPr id="5" name="Shape 3"/>
          <p:cNvSpPr/>
          <p:nvPr/>
        </p:nvSpPr>
        <p:spPr>
          <a:xfrm>
            <a:off x="9390888" y="1005840"/>
            <a:ext cx="960120" cy="2331720"/>
          </a:xfrm>
          <a:prstGeom prst="roundRect">
            <a:avLst>
              <a:gd name="adj" fmla="val 5714"/>
            </a:avLst>
          </a:prstGeom>
          <a:solidFill>
            <a:srgbClr val="5B3FBF">
              <a:alpha val="85000"/>
            </a:srgbClr>
          </a:solidFill>
          <a:ln w="19050">
            <a:solidFill>
              <a:srgbClr val="FFFFFF">
                <a:alpha val="60000"/>
              </a:srgbClr>
            </a:solidFill>
            <a:prstDash val="solid"/>
          </a:ln>
        </p:spPr>
      </p:sp>
      <p:sp>
        <p:nvSpPr>
          <p:cNvPr id="6" name="Shape 4"/>
          <p:cNvSpPr/>
          <p:nvPr/>
        </p:nvSpPr>
        <p:spPr>
          <a:xfrm>
            <a:off x="10460736" y="1005840"/>
            <a:ext cx="960120" cy="2331720"/>
          </a:xfrm>
          <a:prstGeom prst="roundRect">
            <a:avLst>
              <a:gd name="adj" fmla="val 5714"/>
            </a:avLst>
          </a:prstGeom>
          <a:solidFill>
            <a:srgbClr val="2C2158">
              <a:alpha val="85000"/>
            </a:srgbClr>
          </a:solidFill>
          <a:ln w="19050">
            <a:solidFill>
              <a:srgbClr val="FFFFFF">
                <a:alpha val="60000"/>
              </a:srgbClr>
            </a:solidFill>
            <a:prstDash val="solid"/>
          </a:ln>
        </p:spPr>
      </p:sp>
      <p:sp>
        <p:nvSpPr>
          <p:cNvPr id="7" name="Shape 5"/>
          <p:cNvSpPr/>
          <p:nvPr/>
        </p:nvSpPr>
        <p:spPr>
          <a:xfrm>
            <a:off x="11530584" y="1005840"/>
            <a:ext cx="960120" cy="2331720"/>
          </a:xfrm>
          <a:prstGeom prst="roundRect">
            <a:avLst>
              <a:gd name="adj" fmla="val 5714"/>
            </a:avLst>
          </a:prstGeom>
          <a:solidFill>
            <a:srgbClr val="7A5FCB">
              <a:alpha val="85000"/>
            </a:srgbClr>
          </a:solidFill>
          <a:ln w="19050">
            <a:solidFill>
              <a:srgbClr val="FFFFFF">
                <a:alpha val="60000"/>
              </a:srgbClr>
            </a:solidFill>
            <a:prstDash val="solid"/>
          </a:ln>
        </p:spPr>
      </p:sp>
      <p:sp>
        <p:nvSpPr>
          <p:cNvPr id="8" name="Text 6"/>
          <p:cNvSpPr txBox="1"/>
          <p:nvPr/>
        </p:nvSpPr>
        <p:spPr>
          <a:xfrm>
            <a:off x="731520" y="2331720"/>
            <a:ext cx="731520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WINDOW</a:t>
            </a:r>
            <a:endParaRPr lang="en-US" sz="6000" dirty="0"/>
          </a:p>
        </p:txBody>
      </p:sp>
      <p:sp>
        <p:nvSpPr>
          <p:cNvPr id="9" name="Text 7"/>
          <p:cNvSpPr txBox="1"/>
          <p:nvPr/>
        </p:nvSpPr>
        <p:spPr>
          <a:xfrm>
            <a:off x="749808" y="3246120"/>
            <a:ext cx="7772400" cy="548640"/>
          </a:xfrm>
          <a:prstGeom prst="rect">
            <a:avLst/>
          </a:prstGeom>
          <a:noFill/>
          <a:ln/>
        </p:spPr>
        <p:txBody>
          <a:bodyPr wrap="square" lIns="0" tIns="0" rIns="0" bIns="0" rtlCol="0" anchor="ctr"/>
          <a:lstStyle/>
          <a:p>
            <a:pPr marL="0" indent="0">
              <a:buNone/>
            </a:pPr>
            <a:r>
              <a:rPr lang="en-US" sz="2200" dirty="0">
                <a:solidFill>
                  <a:srgbClr val="D8CFF5"/>
                </a:solidFill>
                <a:latin typeface="Calibri" pitchFamily="34" charset="0"/>
                <a:ea typeface="Calibri" pitchFamily="34" charset="-122"/>
                <a:cs typeface="Calibri" pitchFamily="34" charset="-120"/>
              </a:rPr>
              <a:t>Van blueprint naar livegang in 8 weken</a:t>
            </a:r>
            <a:endParaRPr lang="en-US" sz="2200" dirty="0"/>
          </a:p>
        </p:txBody>
      </p:sp>
      <p:sp>
        <p:nvSpPr>
          <p:cNvPr id="10" name="Shape 8"/>
          <p:cNvSpPr/>
          <p:nvPr/>
        </p:nvSpPr>
        <p:spPr>
          <a:xfrm>
            <a:off x="749808" y="3977640"/>
            <a:ext cx="4206240" cy="457200"/>
          </a:xfrm>
          <a:prstGeom prst="roundRect">
            <a:avLst>
              <a:gd name="adj" fmla="val 50000"/>
            </a:avLst>
          </a:prstGeom>
          <a:solidFill>
            <a:srgbClr val="6C3CE9"/>
          </a:solidFill>
          <a:ln/>
        </p:spPr>
      </p:sp>
      <p:sp>
        <p:nvSpPr>
          <p:cNvPr id="11" name="Text 9"/>
          <p:cNvSpPr txBox="1"/>
          <p:nvPr/>
        </p:nvSpPr>
        <p:spPr>
          <a:xfrm>
            <a:off x="749808" y="3977640"/>
            <a:ext cx="42062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Persoonlijk uitvoeringsoverzicht  ·  29 augustus 2026</a:t>
            </a:r>
            <a:endParaRPr lang="en-US" sz="1250" dirty="0"/>
          </a:p>
        </p:txBody>
      </p:sp>
      <p:sp>
        <p:nvSpPr>
          <p:cNvPr id="12" name="Text 10"/>
          <p:cNvSpPr txBox="1"/>
          <p:nvPr/>
        </p:nvSpPr>
        <p:spPr>
          <a:xfrm>
            <a:off x="749808" y="5989320"/>
            <a:ext cx="5486400" cy="365760"/>
          </a:xfrm>
          <a:prstGeom prst="rect">
            <a:avLst/>
          </a:prstGeom>
          <a:noFill/>
          <a:ln/>
        </p:spPr>
        <p:txBody>
          <a:bodyPr wrap="square" lIns="0" tIns="0" rIns="0" bIns="0" rtlCol="0" anchor="ctr"/>
          <a:lstStyle/>
          <a:p>
            <a:pPr marL="0" indent="0">
              <a:buNone/>
            </a:pPr>
            <a:r>
              <a:rPr lang="en-US" sz="1400" i="1" dirty="0">
                <a:solidFill>
                  <a:srgbClr val="9B90C4"/>
                </a:solidFill>
                <a:latin typeface="Cambria" pitchFamily="34" charset="0"/>
                <a:ea typeface="Cambria" pitchFamily="34" charset="-122"/>
                <a:cs typeface="Cambria" pitchFamily="34" charset="-120"/>
              </a:rPr>
              <a:t>A Window Into What Could Be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KERNSTATUS</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In één oogopslag</a:t>
            </a:r>
            <a:endParaRPr lang="en-US" sz="2600" dirty="0"/>
          </a:p>
        </p:txBody>
      </p:sp>
      <p:sp>
        <p:nvSpPr>
          <p:cNvPr id="6" name="Text 3"/>
          <p:cNvSpPr txBox="1"/>
          <p:nvPr/>
        </p:nvSpPr>
        <p:spPr>
          <a:xfrm>
            <a:off x="640080" y="1371600"/>
            <a:ext cx="10881360" cy="548640"/>
          </a:xfrm>
          <a:prstGeom prst="rect">
            <a:avLst/>
          </a:prstGeom>
          <a:noFill/>
          <a:ln/>
        </p:spPr>
        <p:txBody>
          <a:bodyPr wrap="square" lIns="0" tIns="0" rIns="0" bIns="0" rtlCol="0" anchor="ctr"/>
          <a:lstStyle/>
          <a:p>
            <a:pPr marL="0" indent="0">
              <a:buNone/>
            </a:pPr>
            <a:r>
              <a:rPr lang="en-US" sz="1400" i="1" dirty="0">
                <a:solidFill>
                  <a:srgbClr val="6B6B7D"/>
                </a:solidFill>
                <a:latin typeface="Calibri" pitchFamily="34" charset="0"/>
                <a:ea typeface="Calibri" pitchFamily="34" charset="-122"/>
                <a:cs typeface="Calibri" pitchFamily="34" charset="-120"/>
              </a:rPr>
              <a:t>Snelheid boven grondigheid: de investering blijft klein, dus het risico is behapbaar. Bouwen en valideren lopen daarom parallel, in één doorlopend traject van 8 weken.</a:t>
            </a:r>
            <a:endParaRPr lang="en-US" sz="1400" dirty="0"/>
          </a:p>
        </p:txBody>
      </p:sp>
      <p:sp>
        <p:nvSpPr>
          <p:cNvPr id="7" name="Shape 4"/>
          <p:cNvSpPr/>
          <p:nvPr/>
        </p:nvSpPr>
        <p:spPr>
          <a:xfrm>
            <a:off x="640080" y="2148840"/>
            <a:ext cx="2542032" cy="2148840"/>
          </a:xfrm>
          <a:prstGeom prst="roundRect">
            <a:avLst>
              <a:gd name="adj" fmla="val 3830"/>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8" name="Shape 5"/>
          <p:cNvSpPr/>
          <p:nvPr/>
        </p:nvSpPr>
        <p:spPr>
          <a:xfrm>
            <a:off x="896112" y="2404872"/>
            <a:ext cx="548640" cy="548640"/>
          </a:xfrm>
          <a:prstGeom prst="ellipse">
            <a:avLst/>
          </a:prstGeom>
          <a:solidFill>
            <a:srgbClr val="EFEAFB"/>
          </a:solidFill>
          <a:ln/>
        </p:spPr>
      </p:sp>
      <p:pic>
        <p:nvPicPr>
          <p:cNvPr id="9" name="Image 1" descr="preencoded.png"/>
          <p:cNvPicPr>
            <a:picLocks noChangeAspect="1"/>
          </p:cNvPicPr>
          <p:nvPr/>
        </p:nvPicPr>
        <p:blipFill>
          <a:blip r:embed="rId4"/>
          <a:stretch>
            <a:fillRect/>
          </a:stretch>
        </p:blipFill>
        <p:spPr>
          <a:xfrm>
            <a:off x="1038758" y="2547518"/>
            <a:ext cx="263347" cy="263347"/>
          </a:xfrm>
          <a:prstGeom prst="rect">
            <a:avLst/>
          </a:prstGeom>
        </p:spPr>
      </p:pic>
      <p:sp>
        <p:nvSpPr>
          <p:cNvPr id="10" name="Shape 6"/>
          <p:cNvSpPr/>
          <p:nvPr/>
        </p:nvSpPr>
        <p:spPr>
          <a:xfrm>
            <a:off x="896112" y="2404872"/>
            <a:ext cx="548640" cy="548640"/>
          </a:xfrm>
          <a:prstGeom prst="ellipse">
            <a:avLst/>
          </a:prstGeom>
          <a:solidFill>
            <a:srgbClr val="EFEAFB"/>
          </a:solidFill>
          <a:ln/>
        </p:spPr>
      </p:sp>
      <p:pic>
        <p:nvPicPr>
          <p:cNvPr id="11" name="Image 2" descr="preencoded.png"/>
          <p:cNvPicPr>
            <a:picLocks noChangeAspect="1"/>
          </p:cNvPicPr>
          <p:nvPr/>
        </p:nvPicPr>
        <p:blipFill>
          <a:blip r:embed="rId4"/>
          <a:stretch>
            <a:fillRect/>
          </a:stretch>
        </p:blipFill>
        <p:spPr>
          <a:xfrm>
            <a:off x="1042416" y="2551176"/>
            <a:ext cx="256032" cy="256032"/>
          </a:xfrm>
          <a:prstGeom prst="rect">
            <a:avLst/>
          </a:prstGeom>
        </p:spPr>
      </p:pic>
      <p:sp>
        <p:nvSpPr>
          <p:cNvPr id="12" name="Text 7"/>
          <p:cNvSpPr txBox="1"/>
          <p:nvPr/>
        </p:nvSpPr>
        <p:spPr>
          <a:xfrm>
            <a:off x="868680" y="3108960"/>
            <a:ext cx="2084832" cy="502920"/>
          </a:xfrm>
          <a:prstGeom prst="rect">
            <a:avLst/>
          </a:prstGeom>
          <a:noFill/>
          <a:ln/>
        </p:spPr>
        <p:txBody>
          <a:bodyPr wrap="square" lIns="0" tIns="0" rIns="0" bIns="0"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8 weken</a:t>
            </a:r>
            <a:endParaRPr lang="en-US" sz="2400" dirty="0"/>
          </a:p>
        </p:txBody>
      </p:sp>
      <p:sp>
        <p:nvSpPr>
          <p:cNvPr id="13" name="Text 8"/>
          <p:cNvSpPr txBox="1"/>
          <p:nvPr/>
        </p:nvSpPr>
        <p:spPr>
          <a:xfrm>
            <a:off x="868680" y="3611880"/>
            <a:ext cx="2084832" cy="594360"/>
          </a:xfrm>
          <a:prstGeom prst="rect">
            <a:avLst/>
          </a:prstGeom>
          <a:noFill/>
          <a:ln/>
        </p:spPr>
        <p:txBody>
          <a:bodyPr wrap="square" lIns="0" tIns="0" rIns="0" bIns="0" rtlCol="0" anchor="ctr"/>
          <a:lstStyle/>
          <a:p>
            <a:pPr marL="0" indent="0">
              <a:buNone/>
            </a:pPr>
            <a:r>
              <a:rPr lang="en-US" sz="1150" dirty="0">
                <a:solidFill>
                  <a:srgbClr val="6B6B7D"/>
                </a:solidFill>
                <a:latin typeface="Calibri" pitchFamily="34" charset="0"/>
                <a:ea typeface="Calibri" pitchFamily="34" charset="-122"/>
                <a:cs typeface="Calibri" pitchFamily="34" charset="-120"/>
              </a:rPr>
              <a:t>van opzet tot zachte lancering</a:t>
            </a:r>
            <a:endParaRPr lang="en-US" sz="1150" dirty="0"/>
          </a:p>
        </p:txBody>
      </p:sp>
      <p:sp>
        <p:nvSpPr>
          <p:cNvPr id="14" name="Shape 9"/>
          <p:cNvSpPr/>
          <p:nvPr/>
        </p:nvSpPr>
        <p:spPr>
          <a:xfrm>
            <a:off x="3383280" y="2148840"/>
            <a:ext cx="2542032" cy="2148840"/>
          </a:xfrm>
          <a:prstGeom prst="roundRect">
            <a:avLst>
              <a:gd name="adj" fmla="val 3830"/>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5" name="Shape 10"/>
          <p:cNvSpPr/>
          <p:nvPr/>
        </p:nvSpPr>
        <p:spPr>
          <a:xfrm>
            <a:off x="3639312" y="2404872"/>
            <a:ext cx="548640" cy="548640"/>
          </a:xfrm>
          <a:prstGeom prst="ellipse">
            <a:avLst/>
          </a:prstGeom>
          <a:solidFill>
            <a:srgbClr val="EFEAFB"/>
          </a:solidFill>
          <a:ln/>
        </p:spPr>
      </p:sp>
      <p:pic>
        <p:nvPicPr>
          <p:cNvPr id="16" name="Image 3" descr="preencoded.png"/>
          <p:cNvPicPr>
            <a:picLocks noChangeAspect="1"/>
          </p:cNvPicPr>
          <p:nvPr/>
        </p:nvPicPr>
        <p:blipFill>
          <a:blip r:embed="rId5"/>
          <a:stretch>
            <a:fillRect/>
          </a:stretch>
        </p:blipFill>
        <p:spPr>
          <a:xfrm>
            <a:off x="3781958" y="2547518"/>
            <a:ext cx="263347" cy="263347"/>
          </a:xfrm>
          <a:prstGeom prst="rect">
            <a:avLst/>
          </a:prstGeom>
        </p:spPr>
      </p:pic>
      <p:sp>
        <p:nvSpPr>
          <p:cNvPr id="17" name="Shape 11"/>
          <p:cNvSpPr/>
          <p:nvPr/>
        </p:nvSpPr>
        <p:spPr>
          <a:xfrm>
            <a:off x="3639312" y="2404872"/>
            <a:ext cx="548640" cy="548640"/>
          </a:xfrm>
          <a:prstGeom prst="ellipse">
            <a:avLst/>
          </a:prstGeom>
          <a:solidFill>
            <a:srgbClr val="EFEAFB"/>
          </a:solidFill>
          <a:ln/>
        </p:spPr>
      </p:sp>
      <p:pic>
        <p:nvPicPr>
          <p:cNvPr id="18" name="Image 4" descr="preencoded.png"/>
          <p:cNvPicPr>
            <a:picLocks noChangeAspect="1"/>
          </p:cNvPicPr>
          <p:nvPr/>
        </p:nvPicPr>
        <p:blipFill>
          <a:blip r:embed="rId5"/>
          <a:stretch>
            <a:fillRect/>
          </a:stretch>
        </p:blipFill>
        <p:spPr>
          <a:xfrm>
            <a:off x="3785616" y="2551176"/>
            <a:ext cx="256032" cy="256032"/>
          </a:xfrm>
          <a:prstGeom prst="rect">
            <a:avLst/>
          </a:prstGeom>
        </p:spPr>
      </p:pic>
      <p:sp>
        <p:nvSpPr>
          <p:cNvPr id="19" name="Text 12"/>
          <p:cNvSpPr txBox="1"/>
          <p:nvPr/>
        </p:nvSpPr>
        <p:spPr>
          <a:xfrm>
            <a:off x="3611880" y="3108960"/>
            <a:ext cx="2084832" cy="502920"/>
          </a:xfrm>
          <a:prstGeom prst="rect">
            <a:avLst/>
          </a:prstGeom>
          <a:noFill/>
          <a:ln/>
        </p:spPr>
        <p:txBody>
          <a:bodyPr wrap="square" lIns="0" tIns="0" rIns="0" bIns="0"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€500–950</a:t>
            </a:r>
            <a:endParaRPr lang="en-US" sz="2400" dirty="0"/>
          </a:p>
        </p:txBody>
      </p:sp>
      <p:sp>
        <p:nvSpPr>
          <p:cNvPr id="20" name="Text 13"/>
          <p:cNvSpPr txBox="1"/>
          <p:nvPr/>
        </p:nvSpPr>
        <p:spPr>
          <a:xfrm>
            <a:off x="3611880" y="3611880"/>
            <a:ext cx="2084832" cy="594360"/>
          </a:xfrm>
          <a:prstGeom prst="rect">
            <a:avLst/>
          </a:prstGeom>
          <a:noFill/>
          <a:ln/>
        </p:spPr>
        <p:txBody>
          <a:bodyPr wrap="square" lIns="0" tIns="0" rIns="0" bIns="0" rtlCol="0" anchor="ctr"/>
          <a:lstStyle/>
          <a:p>
            <a:pPr marL="0" indent="0">
              <a:buNone/>
            </a:pPr>
            <a:r>
              <a:rPr lang="en-US" sz="1150" dirty="0">
                <a:solidFill>
                  <a:srgbClr val="6B6B7D"/>
                </a:solidFill>
                <a:latin typeface="Calibri" pitchFamily="34" charset="0"/>
                <a:ea typeface="Calibri" pitchFamily="34" charset="-122"/>
                <a:cs typeface="Calibri" pitchFamily="34" charset="-120"/>
              </a:rPr>
              <a:t>eenmalige investering</a:t>
            </a:r>
            <a:endParaRPr lang="en-US" sz="1150" dirty="0"/>
          </a:p>
        </p:txBody>
      </p:sp>
      <p:sp>
        <p:nvSpPr>
          <p:cNvPr id="21" name="Shape 14"/>
          <p:cNvSpPr/>
          <p:nvPr/>
        </p:nvSpPr>
        <p:spPr>
          <a:xfrm>
            <a:off x="6126480" y="2148840"/>
            <a:ext cx="2542032" cy="2148840"/>
          </a:xfrm>
          <a:prstGeom prst="roundRect">
            <a:avLst>
              <a:gd name="adj" fmla="val 3830"/>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2" name="Shape 15"/>
          <p:cNvSpPr/>
          <p:nvPr/>
        </p:nvSpPr>
        <p:spPr>
          <a:xfrm>
            <a:off x="6382512" y="2404872"/>
            <a:ext cx="548640" cy="548640"/>
          </a:xfrm>
          <a:prstGeom prst="ellipse">
            <a:avLst/>
          </a:prstGeom>
          <a:solidFill>
            <a:srgbClr val="EFEAFB"/>
          </a:solidFill>
          <a:ln/>
        </p:spPr>
      </p:sp>
      <p:pic>
        <p:nvPicPr>
          <p:cNvPr id="23" name="Image 5" descr="preencoded.png"/>
          <p:cNvPicPr>
            <a:picLocks noChangeAspect="1"/>
          </p:cNvPicPr>
          <p:nvPr/>
        </p:nvPicPr>
        <p:blipFill>
          <a:blip r:embed="rId6"/>
          <a:stretch>
            <a:fillRect/>
          </a:stretch>
        </p:blipFill>
        <p:spPr>
          <a:xfrm>
            <a:off x="6525158" y="2547518"/>
            <a:ext cx="263347" cy="263347"/>
          </a:xfrm>
          <a:prstGeom prst="rect">
            <a:avLst/>
          </a:prstGeom>
        </p:spPr>
      </p:pic>
      <p:sp>
        <p:nvSpPr>
          <p:cNvPr id="24" name="Shape 16"/>
          <p:cNvSpPr/>
          <p:nvPr/>
        </p:nvSpPr>
        <p:spPr>
          <a:xfrm>
            <a:off x="6382512" y="2404872"/>
            <a:ext cx="548640" cy="548640"/>
          </a:xfrm>
          <a:prstGeom prst="ellipse">
            <a:avLst/>
          </a:prstGeom>
          <a:solidFill>
            <a:srgbClr val="EFEAFB"/>
          </a:solidFill>
          <a:ln/>
        </p:spPr>
      </p:sp>
      <p:pic>
        <p:nvPicPr>
          <p:cNvPr id="25" name="Image 6" descr="preencoded.png"/>
          <p:cNvPicPr>
            <a:picLocks noChangeAspect="1"/>
          </p:cNvPicPr>
          <p:nvPr/>
        </p:nvPicPr>
        <p:blipFill>
          <a:blip r:embed="rId6"/>
          <a:stretch>
            <a:fillRect/>
          </a:stretch>
        </p:blipFill>
        <p:spPr>
          <a:xfrm>
            <a:off x="6528816" y="2551176"/>
            <a:ext cx="256032" cy="256032"/>
          </a:xfrm>
          <a:prstGeom prst="rect">
            <a:avLst/>
          </a:prstGeom>
        </p:spPr>
      </p:pic>
      <p:sp>
        <p:nvSpPr>
          <p:cNvPr id="26" name="Text 17"/>
          <p:cNvSpPr txBox="1"/>
          <p:nvPr/>
        </p:nvSpPr>
        <p:spPr>
          <a:xfrm>
            <a:off x="6355080" y="3108960"/>
            <a:ext cx="2084832" cy="502920"/>
          </a:xfrm>
          <a:prstGeom prst="rect">
            <a:avLst/>
          </a:prstGeom>
          <a:noFill/>
          <a:ln/>
        </p:spPr>
        <p:txBody>
          <a:bodyPr wrap="square" lIns="0" tIns="0" rIns="0" bIns="0"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Beperkt</a:t>
            </a:r>
            <a:endParaRPr lang="en-US" sz="2400" dirty="0"/>
          </a:p>
        </p:txBody>
      </p:sp>
      <p:sp>
        <p:nvSpPr>
          <p:cNvPr id="27" name="Text 18"/>
          <p:cNvSpPr txBox="1"/>
          <p:nvPr/>
        </p:nvSpPr>
        <p:spPr>
          <a:xfrm>
            <a:off x="6355080" y="3611880"/>
            <a:ext cx="2084832" cy="594360"/>
          </a:xfrm>
          <a:prstGeom prst="rect">
            <a:avLst/>
          </a:prstGeom>
          <a:noFill/>
          <a:ln/>
        </p:spPr>
        <p:txBody>
          <a:bodyPr wrap="square" lIns="0" tIns="0" rIns="0" bIns="0" rtlCol="0" anchor="ctr"/>
          <a:lstStyle/>
          <a:p>
            <a:pPr marL="0" indent="0">
              <a:buNone/>
            </a:pPr>
            <a:r>
              <a:rPr lang="en-US" sz="1150" dirty="0">
                <a:solidFill>
                  <a:srgbClr val="6B6B7D"/>
                </a:solidFill>
                <a:latin typeface="Calibri" pitchFamily="34" charset="0"/>
                <a:ea typeface="Calibri" pitchFamily="34" charset="-122"/>
                <a:cs typeface="Calibri" pitchFamily="34" charset="-120"/>
              </a:rPr>
              <a:t>risico — lage vaste kosten, geen personeel</a:t>
            </a:r>
            <a:endParaRPr lang="en-US" sz="1150" dirty="0"/>
          </a:p>
        </p:txBody>
      </p:sp>
      <p:sp>
        <p:nvSpPr>
          <p:cNvPr id="28" name="Shape 19"/>
          <p:cNvSpPr/>
          <p:nvPr/>
        </p:nvSpPr>
        <p:spPr>
          <a:xfrm>
            <a:off x="8869680" y="2148840"/>
            <a:ext cx="2542032" cy="2148840"/>
          </a:xfrm>
          <a:prstGeom prst="roundRect">
            <a:avLst>
              <a:gd name="adj" fmla="val 3830"/>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9" name="Shape 20"/>
          <p:cNvSpPr/>
          <p:nvPr/>
        </p:nvSpPr>
        <p:spPr>
          <a:xfrm>
            <a:off x="9125712" y="2404872"/>
            <a:ext cx="548640" cy="548640"/>
          </a:xfrm>
          <a:prstGeom prst="ellipse">
            <a:avLst/>
          </a:prstGeom>
          <a:solidFill>
            <a:srgbClr val="EFEAFB"/>
          </a:solidFill>
          <a:ln/>
        </p:spPr>
      </p:sp>
      <p:pic>
        <p:nvPicPr>
          <p:cNvPr id="30" name="Image 7" descr="preencoded.png"/>
          <p:cNvPicPr>
            <a:picLocks noChangeAspect="1"/>
          </p:cNvPicPr>
          <p:nvPr/>
        </p:nvPicPr>
        <p:blipFill>
          <a:blip r:embed="rId7"/>
          <a:stretch>
            <a:fillRect/>
          </a:stretch>
        </p:blipFill>
        <p:spPr>
          <a:xfrm>
            <a:off x="9268358" y="2547518"/>
            <a:ext cx="263347" cy="263347"/>
          </a:xfrm>
          <a:prstGeom prst="rect">
            <a:avLst/>
          </a:prstGeom>
        </p:spPr>
      </p:pic>
      <p:sp>
        <p:nvSpPr>
          <p:cNvPr id="31" name="Shape 21"/>
          <p:cNvSpPr/>
          <p:nvPr/>
        </p:nvSpPr>
        <p:spPr>
          <a:xfrm>
            <a:off x="9125712" y="2404872"/>
            <a:ext cx="548640" cy="548640"/>
          </a:xfrm>
          <a:prstGeom prst="ellipse">
            <a:avLst/>
          </a:prstGeom>
          <a:solidFill>
            <a:srgbClr val="EFEAFB"/>
          </a:solidFill>
          <a:ln/>
        </p:spPr>
      </p:sp>
      <p:pic>
        <p:nvPicPr>
          <p:cNvPr id="32" name="Image 8" descr="preencoded.png"/>
          <p:cNvPicPr>
            <a:picLocks noChangeAspect="1"/>
          </p:cNvPicPr>
          <p:nvPr/>
        </p:nvPicPr>
        <p:blipFill>
          <a:blip r:embed="rId7"/>
          <a:stretch>
            <a:fillRect/>
          </a:stretch>
        </p:blipFill>
        <p:spPr>
          <a:xfrm>
            <a:off x="9272016" y="2551176"/>
            <a:ext cx="256032" cy="256032"/>
          </a:xfrm>
          <a:prstGeom prst="rect">
            <a:avLst/>
          </a:prstGeom>
        </p:spPr>
      </p:pic>
      <p:sp>
        <p:nvSpPr>
          <p:cNvPr id="33" name="Text 22"/>
          <p:cNvSpPr txBox="1"/>
          <p:nvPr/>
        </p:nvSpPr>
        <p:spPr>
          <a:xfrm>
            <a:off x="9098280" y="3108960"/>
            <a:ext cx="2084832" cy="502920"/>
          </a:xfrm>
          <a:prstGeom prst="rect">
            <a:avLst/>
          </a:prstGeom>
          <a:noFill/>
          <a:ln/>
        </p:spPr>
        <p:txBody>
          <a:bodyPr wrap="square" lIns="0" tIns="0" rIns="0" bIns="0"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Ingebouwd</a:t>
            </a:r>
            <a:endParaRPr lang="en-US" sz="2400" dirty="0"/>
          </a:p>
        </p:txBody>
      </p:sp>
      <p:sp>
        <p:nvSpPr>
          <p:cNvPr id="34" name="Text 23"/>
          <p:cNvSpPr txBox="1"/>
          <p:nvPr/>
        </p:nvSpPr>
        <p:spPr>
          <a:xfrm>
            <a:off x="9098280" y="3611880"/>
            <a:ext cx="2084832" cy="594360"/>
          </a:xfrm>
          <a:prstGeom prst="rect">
            <a:avLst/>
          </a:prstGeom>
          <a:noFill/>
          <a:ln/>
        </p:spPr>
        <p:txBody>
          <a:bodyPr wrap="square" lIns="0" tIns="0" rIns="0" bIns="0" rtlCol="0" anchor="ctr"/>
          <a:lstStyle/>
          <a:p>
            <a:pPr marL="0" indent="0">
              <a:buNone/>
            </a:pPr>
            <a:r>
              <a:rPr lang="en-US" sz="1150" dirty="0">
                <a:solidFill>
                  <a:srgbClr val="6B6B7D"/>
                </a:solidFill>
                <a:latin typeface="Calibri" pitchFamily="34" charset="0"/>
                <a:ea typeface="Calibri" pitchFamily="34" charset="-122"/>
                <a:cs typeface="Calibri" pitchFamily="34" charset="-120"/>
              </a:rPr>
              <a:t>validatie via echte betalingen vanaf week 5</a:t>
            </a:r>
            <a:endParaRPr lang="en-US" sz="1150" dirty="0"/>
          </a:p>
        </p:txBody>
      </p:sp>
      <p:sp>
        <p:nvSpPr>
          <p:cNvPr id="35" name="Shape 24"/>
          <p:cNvSpPr/>
          <p:nvPr/>
        </p:nvSpPr>
        <p:spPr>
          <a:xfrm>
            <a:off x="640080" y="4617720"/>
            <a:ext cx="10881360" cy="1417320"/>
          </a:xfrm>
          <a:prstGeom prst="roundRect">
            <a:avLst>
              <a:gd name="adj" fmla="val 5806"/>
            </a:avLst>
          </a:prstGeom>
          <a:solidFill>
            <a:srgbClr val="EFEAFB"/>
          </a:solidFill>
          <a:ln/>
        </p:spPr>
      </p:sp>
      <p:sp>
        <p:nvSpPr>
          <p:cNvPr id="36" name="Text 25"/>
          <p:cNvSpPr txBox="1"/>
          <p:nvPr/>
        </p:nvSpPr>
        <p:spPr>
          <a:xfrm>
            <a:off x="914400" y="4773168"/>
            <a:ext cx="10332720" cy="274320"/>
          </a:xfrm>
          <a:prstGeom prst="rect">
            <a:avLst/>
          </a:prstGeom>
          <a:noFill/>
          <a:ln/>
        </p:spPr>
        <p:txBody>
          <a:bodyPr wrap="square" lIns="0" tIns="0" rIns="0" bIns="0" rtlCol="0" anchor="ctr"/>
          <a:lstStyle/>
          <a:p>
            <a:pPr marL="0" indent="0">
              <a:buNone/>
            </a:pPr>
            <a:r>
              <a:rPr lang="en-US" sz="1300" b="1" dirty="0">
                <a:solidFill>
                  <a:srgbClr val="4B2AA6"/>
                </a:solidFill>
                <a:latin typeface="Calibri" pitchFamily="34" charset="0"/>
                <a:ea typeface="Calibri" pitchFamily="34" charset="-122"/>
                <a:cs typeface="Calibri" pitchFamily="34" charset="-120"/>
              </a:rPr>
              <a:t>Waarom dit verantwoord is zonder aparte validatiefase</a:t>
            </a:r>
            <a:endParaRPr lang="en-US" sz="1300" dirty="0"/>
          </a:p>
        </p:txBody>
      </p:sp>
      <p:sp>
        <p:nvSpPr>
          <p:cNvPr id="37" name="Text 26"/>
          <p:cNvSpPr txBox="1"/>
          <p:nvPr/>
        </p:nvSpPr>
        <p:spPr>
          <a:xfrm>
            <a:off x="914400" y="5074920"/>
            <a:ext cx="10332720" cy="868680"/>
          </a:xfrm>
          <a:prstGeom prst="rect">
            <a:avLst/>
          </a:prstGeom>
          <a:noFill/>
          <a:ln/>
        </p:spPr>
        <p:txBody>
          <a:bodyPr wrap="square" lIns="0" tIns="0" rIns="0" bIns="0" rtlCol="0" anchor="ctr"/>
          <a:lstStyle/>
          <a:p>
            <a:pPr marL="0" indent="0">
              <a:lnSpc>
                <a:spcPct val="115000"/>
              </a:lnSpc>
              <a:buNone/>
            </a:pPr>
            <a:r>
              <a:rPr lang="en-US" sz="1250" dirty="0">
                <a:solidFill>
                  <a:srgbClr val="1A1A2E"/>
                </a:solidFill>
                <a:latin typeface="Calibri" pitchFamily="34" charset="0"/>
                <a:ea typeface="Calibri" pitchFamily="34" charset="-122"/>
                <a:cs typeface="Calibri" pitchFamily="34" charset="-120"/>
              </a:rPr>
              <a:t>De techniek is grotendeels gratis, de juridische basis is met een eenmanszaak snel geregeld, en de eerste échte betalingen komen al in week 5. Je verliest weinig door te bouwen vóór je 100% zeker weet dat het werkt — de meting zit in het proces zelf.</a:t>
            </a:r>
            <a:endParaRPr lang="en-US" sz="1250" dirty="0"/>
          </a:p>
        </p:txBody>
      </p:sp>
      <p:sp>
        <p:nvSpPr>
          <p:cNvPr id="38" name="Text 27"/>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In één oogopslag</a:t>
            </a:r>
            <a:endParaRPr lang="en-US" sz="1000" dirty="0"/>
          </a:p>
        </p:txBody>
      </p:sp>
      <p:sp>
        <p:nvSpPr>
          <p:cNvPr id="39" name="Text 28"/>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PRODUCT</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De kernloop die je bouwt</a:t>
            </a:r>
            <a:endParaRPr lang="en-US" sz="2600" dirty="0"/>
          </a:p>
        </p:txBody>
      </p:sp>
      <p:sp>
        <p:nvSpPr>
          <p:cNvPr id="6" name="Text 3"/>
          <p:cNvSpPr txBox="1"/>
          <p:nvPr/>
        </p:nvSpPr>
        <p:spPr>
          <a:xfrm>
            <a:off x="640080" y="1371600"/>
            <a:ext cx="10881360" cy="457200"/>
          </a:xfrm>
          <a:prstGeom prst="rect">
            <a:avLst/>
          </a:prstGeom>
          <a:noFill/>
          <a:ln/>
        </p:spPr>
        <p:txBody>
          <a:bodyPr wrap="square" lIns="0" tIns="0" rIns="0" bIns="0" rtlCol="0" anchor="ctr"/>
          <a:lstStyle/>
          <a:p>
            <a:pPr marL="0" indent="0">
              <a:buNone/>
            </a:pPr>
            <a:r>
              <a:rPr lang="en-US" sz="1350" i="1" dirty="0">
                <a:solidFill>
                  <a:srgbClr val="6B6B7D"/>
                </a:solidFill>
                <a:latin typeface="Calibri" pitchFamily="34" charset="0"/>
                <a:ea typeface="Calibri" pitchFamily="34" charset="-122"/>
                <a:cs typeface="Calibri" pitchFamily="34" charset="-120"/>
              </a:rPr>
              <a:t>Elke week levert een werkend, testbaar stukje van deze loop op — niets wordt gebouwd zonder dat het diezelfde of de volgende week ook echt gebruikt wordt.</a:t>
            </a:r>
            <a:endParaRPr lang="en-US" sz="1350" dirty="0"/>
          </a:p>
        </p:txBody>
      </p:sp>
      <p:sp>
        <p:nvSpPr>
          <p:cNvPr id="7" name="Shape 4"/>
          <p:cNvSpPr/>
          <p:nvPr/>
        </p:nvSpPr>
        <p:spPr>
          <a:xfrm>
            <a:off x="640080"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8" name="Shape 5"/>
          <p:cNvSpPr/>
          <p:nvPr/>
        </p:nvSpPr>
        <p:spPr>
          <a:xfrm>
            <a:off x="1042416" y="2670048"/>
            <a:ext cx="548640" cy="548640"/>
          </a:xfrm>
          <a:prstGeom prst="ellipse">
            <a:avLst/>
          </a:prstGeom>
          <a:solidFill>
            <a:srgbClr val="EFEAFB"/>
          </a:solidFill>
          <a:ln/>
        </p:spPr>
      </p:sp>
      <p:pic>
        <p:nvPicPr>
          <p:cNvPr id="9" name="Image 1" descr="preencoded.png"/>
          <p:cNvPicPr>
            <a:picLocks noChangeAspect="1"/>
          </p:cNvPicPr>
          <p:nvPr/>
        </p:nvPicPr>
        <p:blipFill>
          <a:blip r:embed="rId4"/>
          <a:stretch>
            <a:fillRect/>
          </a:stretch>
        </p:blipFill>
        <p:spPr>
          <a:xfrm>
            <a:off x="1170432" y="2816352"/>
            <a:ext cx="292608" cy="292608"/>
          </a:xfrm>
          <a:prstGeom prst="rect">
            <a:avLst/>
          </a:prstGeom>
        </p:spPr>
      </p:pic>
      <p:sp>
        <p:nvSpPr>
          <p:cNvPr id="10" name="Text 6"/>
          <p:cNvSpPr txBox="1"/>
          <p:nvPr/>
        </p:nvSpPr>
        <p:spPr>
          <a:xfrm>
            <a:off x="640080"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OPEN</a:t>
            </a:r>
            <a:endParaRPr lang="en-US" sz="1150" dirty="0"/>
          </a:p>
        </p:txBody>
      </p:sp>
      <p:sp>
        <p:nvSpPr>
          <p:cNvPr id="11" name="Text 7"/>
          <p:cNvSpPr txBox="1"/>
          <p:nvPr/>
        </p:nvSpPr>
        <p:spPr>
          <a:xfrm>
            <a:off x="640080"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1</a:t>
            </a:r>
            <a:endParaRPr lang="en-US" sz="1300" dirty="0"/>
          </a:p>
        </p:txBody>
      </p:sp>
      <p:pic>
        <p:nvPicPr>
          <p:cNvPr id="12" name="Image 2" descr="preencoded.png"/>
          <p:cNvPicPr>
            <a:picLocks noChangeAspect="1"/>
          </p:cNvPicPr>
          <p:nvPr/>
        </p:nvPicPr>
        <p:blipFill>
          <a:blip r:embed="rId5"/>
          <a:stretch>
            <a:fillRect/>
          </a:stretch>
        </p:blipFill>
        <p:spPr>
          <a:xfrm>
            <a:off x="2010156" y="3236976"/>
            <a:ext cx="201168" cy="201168"/>
          </a:xfrm>
          <a:prstGeom prst="rect">
            <a:avLst/>
          </a:prstGeom>
        </p:spPr>
      </p:pic>
      <p:sp>
        <p:nvSpPr>
          <p:cNvPr id="13" name="Shape 8"/>
          <p:cNvSpPr/>
          <p:nvPr/>
        </p:nvSpPr>
        <p:spPr>
          <a:xfrm>
            <a:off x="2228088"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4" name="Shape 9"/>
          <p:cNvSpPr/>
          <p:nvPr/>
        </p:nvSpPr>
        <p:spPr>
          <a:xfrm>
            <a:off x="2630424" y="2670048"/>
            <a:ext cx="548640" cy="548640"/>
          </a:xfrm>
          <a:prstGeom prst="ellipse">
            <a:avLst/>
          </a:prstGeom>
          <a:solidFill>
            <a:srgbClr val="EFEAFB"/>
          </a:solidFill>
          <a:ln/>
        </p:spPr>
      </p:sp>
      <p:pic>
        <p:nvPicPr>
          <p:cNvPr id="15" name="Image 3" descr="preencoded.png"/>
          <p:cNvPicPr>
            <a:picLocks noChangeAspect="1"/>
          </p:cNvPicPr>
          <p:nvPr/>
        </p:nvPicPr>
        <p:blipFill>
          <a:blip r:embed="rId6"/>
          <a:stretch>
            <a:fillRect/>
          </a:stretch>
        </p:blipFill>
        <p:spPr>
          <a:xfrm>
            <a:off x="2758440" y="2816352"/>
            <a:ext cx="292608" cy="292608"/>
          </a:xfrm>
          <a:prstGeom prst="rect">
            <a:avLst/>
          </a:prstGeom>
        </p:spPr>
      </p:pic>
      <p:sp>
        <p:nvSpPr>
          <p:cNvPr id="16" name="Text 10"/>
          <p:cNvSpPr txBox="1"/>
          <p:nvPr/>
        </p:nvSpPr>
        <p:spPr>
          <a:xfrm>
            <a:off x="2228088"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CONTEXT</a:t>
            </a:r>
            <a:endParaRPr lang="en-US" sz="1150" dirty="0"/>
          </a:p>
        </p:txBody>
      </p:sp>
      <p:sp>
        <p:nvSpPr>
          <p:cNvPr id="17" name="Text 11"/>
          <p:cNvSpPr txBox="1"/>
          <p:nvPr/>
        </p:nvSpPr>
        <p:spPr>
          <a:xfrm>
            <a:off x="2228088"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2</a:t>
            </a:r>
            <a:endParaRPr lang="en-US" sz="1300" dirty="0"/>
          </a:p>
        </p:txBody>
      </p:sp>
      <p:pic>
        <p:nvPicPr>
          <p:cNvPr id="18" name="Image 4" descr="preencoded.png"/>
          <p:cNvPicPr>
            <a:picLocks noChangeAspect="1"/>
          </p:cNvPicPr>
          <p:nvPr/>
        </p:nvPicPr>
        <p:blipFill>
          <a:blip r:embed="rId5"/>
          <a:stretch>
            <a:fillRect/>
          </a:stretch>
        </p:blipFill>
        <p:spPr>
          <a:xfrm>
            <a:off x="3598164" y="3236976"/>
            <a:ext cx="201168" cy="201168"/>
          </a:xfrm>
          <a:prstGeom prst="rect">
            <a:avLst/>
          </a:prstGeom>
        </p:spPr>
      </p:pic>
      <p:sp>
        <p:nvSpPr>
          <p:cNvPr id="19" name="Shape 12"/>
          <p:cNvSpPr/>
          <p:nvPr/>
        </p:nvSpPr>
        <p:spPr>
          <a:xfrm>
            <a:off x="3816096"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0" name="Shape 13"/>
          <p:cNvSpPr/>
          <p:nvPr/>
        </p:nvSpPr>
        <p:spPr>
          <a:xfrm>
            <a:off x="4218432" y="2670048"/>
            <a:ext cx="548640" cy="548640"/>
          </a:xfrm>
          <a:prstGeom prst="ellipse">
            <a:avLst/>
          </a:prstGeom>
          <a:solidFill>
            <a:srgbClr val="EFEAFB"/>
          </a:solidFill>
          <a:ln/>
        </p:spPr>
      </p:sp>
      <p:pic>
        <p:nvPicPr>
          <p:cNvPr id="21" name="Image 5" descr="preencoded.png"/>
          <p:cNvPicPr>
            <a:picLocks noChangeAspect="1"/>
          </p:cNvPicPr>
          <p:nvPr/>
        </p:nvPicPr>
        <p:blipFill>
          <a:blip r:embed="rId7"/>
          <a:stretch>
            <a:fillRect/>
          </a:stretch>
        </p:blipFill>
        <p:spPr>
          <a:xfrm>
            <a:off x="4346448" y="2816352"/>
            <a:ext cx="292608" cy="292608"/>
          </a:xfrm>
          <a:prstGeom prst="rect">
            <a:avLst/>
          </a:prstGeom>
        </p:spPr>
      </p:pic>
      <p:sp>
        <p:nvSpPr>
          <p:cNvPr id="22" name="Text 14"/>
          <p:cNvSpPr txBox="1"/>
          <p:nvPr/>
        </p:nvSpPr>
        <p:spPr>
          <a:xfrm>
            <a:off x="3816096"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DIVERGE</a:t>
            </a:r>
            <a:endParaRPr lang="en-US" sz="1150" dirty="0"/>
          </a:p>
        </p:txBody>
      </p:sp>
      <p:sp>
        <p:nvSpPr>
          <p:cNvPr id="23" name="Text 15"/>
          <p:cNvSpPr txBox="1"/>
          <p:nvPr/>
        </p:nvSpPr>
        <p:spPr>
          <a:xfrm>
            <a:off x="3816096"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3</a:t>
            </a:r>
            <a:endParaRPr lang="en-US" sz="1300" dirty="0"/>
          </a:p>
        </p:txBody>
      </p:sp>
      <p:pic>
        <p:nvPicPr>
          <p:cNvPr id="24" name="Image 6" descr="preencoded.png"/>
          <p:cNvPicPr>
            <a:picLocks noChangeAspect="1"/>
          </p:cNvPicPr>
          <p:nvPr/>
        </p:nvPicPr>
        <p:blipFill>
          <a:blip r:embed="rId5"/>
          <a:stretch>
            <a:fillRect/>
          </a:stretch>
        </p:blipFill>
        <p:spPr>
          <a:xfrm>
            <a:off x="5186172" y="3236976"/>
            <a:ext cx="201168" cy="201168"/>
          </a:xfrm>
          <a:prstGeom prst="rect">
            <a:avLst/>
          </a:prstGeom>
        </p:spPr>
      </p:pic>
      <p:sp>
        <p:nvSpPr>
          <p:cNvPr id="25" name="Shape 16"/>
          <p:cNvSpPr/>
          <p:nvPr/>
        </p:nvSpPr>
        <p:spPr>
          <a:xfrm>
            <a:off x="5404104"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6" name="Shape 17"/>
          <p:cNvSpPr/>
          <p:nvPr/>
        </p:nvSpPr>
        <p:spPr>
          <a:xfrm>
            <a:off x="5806440" y="2670048"/>
            <a:ext cx="548640" cy="548640"/>
          </a:xfrm>
          <a:prstGeom prst="ellipse">
            <a:avLst/>
          </a:prstGeom>
          <a:solidFill>
            <a:srgbClr val="EFEAFB"/>
          </a:solidFill>
          <a:ln/>
        </p:spPr>
      </p:sp>
      <p:pic>
        <p:nvPicPr>
          <p:cNvPr id="27" name="Image 7" descr="preencoded.png"/>
          <p:cNvPicPr>
            <a:picLocks noChangeAspect="1"/>
          </p:cNvPicPr>
          <p:nvPr/>
        </p:nvPicPr>
        <p:blipFill>
          <a:blip r:embed="rId8"/>
          <a:stretch>
            <a:fillRect/>
          </a:stretch>
        </p:blipFill>
        <p:spPr>
          <a:xfrm>
            <a:off x="5934456" y="2816352"/>
            <a:ext cx="292608" cy="292608"/>
          </a:xfrm>
          <a:prstGeom prst="rect">
            <a:avLst/>
          </a:prstGeom>
        </p:spPr>
      </p:pic>
      <p:sp>
        <p:nvSpPr>
          <p:cNvPr id="28" name="Text 18"/>
          <p:cNvSpPr txBox="1"/>
          <p:nvPr/>
        </p:nvSpPr>
        <p:spPr>
          <a:xfrm>
            <a:off x="5404104"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INTERACT</a:t>
            </a:r>
            <a:endParaRPr lang="en-US" sz="1150" dirty="0"/>
          </a:p>
        </p:txBody>
      </p:sp>
      <p:sp>
        <p:nvSpPr>
          <p:cNvPr id="29" name="Text 19"/>
          <p:cNvSpPr txBox="1"/>
          <p:nvPr/>
        </p:nvSpPr>
        <p:spPr>
          <a:xfrm>
            <a:off x="5404104"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4</a:t>
            </a:r>
            <a:endParaRPr lang="en-US" sz="1300" dirty="0"/>
          </a:p>
        </p:txBody>
      </p:sp>
      <p:pic>
        <p:nvPicPr>
          <p:cNvPr id="30" name="Image 8" descr="preencoded.png"/>
          <p:cNvPicPr>
            <a:picLocks noChangeAspect="1"/>
          </p:cNvPicPr>
          <p:nvPr/>
        </p:nvPicPr>
        <p:blipFill>
          <a:blip r:embed="rId5"/>
          <a:stretch>
            <a:fillRect/>
          </a:stretch>
        </p:blipFill>
        <p:spPr>
          <a:xfrm>
            <a:off x="6774180" y="3236976"/>
            <a:ext cx="201168" cy="201168"/>
          </a:xfrm>
          <a:prstGeom prst="rect">
            <a:avLst/>
          </a:prstGeom>
        </p:spPr>
      </p:pic>
      <p:sp>
        <p:nvSpPr>
          <p:cNvPr id="31" name="Shape 20"/>
          <p:cNvSpPr/>
          <p:nvPr/>
        </p:nvSpPr>
        <p:spPr>
          <a:xfrm>
            <a:off x="6992112"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32" name="Shape 21"/>
          <p:cNvSpPr/>
          <p:nvPr/>
        </p:nvSpPr>
        <p:spPr>
          <a:xfrm>
            <a:off x="7394448" y="2670048"/>
            <a:ext cx="548640" cy="548640"/>
          </a:xfrm>
          <a:prstGeom prst="ellipse">
            <a:avLst/>
          </a:prstGeom>
          <a:solidFill>
            <a:srgbClr val="EFEAFB"/>
          </a:solidFill>
          <a:ln/>
        </p:spPr>
      </p:sp>
      <p:pic>
        <p:nvPicPr>
          <p:cNvPr id="33" name="Image 9" descr="preencoded.png"/>
          <p:cNvPicPr>
            <a:picLocks noChangeAspect="1"/>
          </p:cNvPicPr>
          <p:nvPr/>
        </p:nvPicPr>
        <p:blipFill>
          <a:blip r:embed="rId9"/>
          <a:stretch>
            <a:fillRect/>
          </a:stretch>
        </p:blipFill>
        <p:spPr>
          <a:xfrm>
            <a:off x="7522464" y="2816352"/>
            <a:ext cx="292608" cy="292608"/>
          </a:xfrm>
          <a:prstGeom prst="rect">
            <a:avLst/>
          </a:prstGeom>
        </p:spPr>
      </p:pic>
      <p:sp>
        <p:nvSpPr>
          <p:cNvPr id="34" name="Text 22"/>
          <p:cNvSpPr txBox="1"/>
          <p:nvPr/>
        </p:nvSpPr>
        <p:spPr>
          <a:xfrm>
            <a:off x="6992112"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CONVERGE</a:t>
            </a:r>
            <a:endParaRPr lang="en-US" sz="1150" dirty="0"/>
          </a:p>
        </p:txBody>
      </p:sp>
      <p:sp>
        <p:nvSpPr>
          <p:cNvPr id="35" name="Text 23"/>
          <p:cNvSpPr txBox="1"/>
          <p:nvPr/>
        </p:nvSpPr>
        <p:spPr>
          <a:xfrm>
            <a:off x="6992112"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5</a:t>
            </a:r>
            <a:endParaRPr lang="en-US" sz="1300" dirty="0"/>
          </a:p>
        </p:txBody>
      </p:sp>
      <p:pic>
        <p:nvPicPr>
          <p:cNvPr id="36" name="Image 10" descr="preencoded.png"/>
          <p:cNvPicPr>
            <a:picLocks noChangeAspect="1"/>
          </p:cNvPicPr>
          <p:nvPr/>
        </p:nvPicPr>
        <p:blipFill>
          <a:blip r:embed="rId5"/>
          <a:stretch>
            <a:fillRect/>
          </a:stretch>
        </p:blipFill>
        <p:spPr>
          <a:xfrm>
            <a:off x="8362188" y="3236976"/>
            <a:ext cx="201168" cy="201168"/>
          </a:xfrm>
          <a:prstGeom prst="rect">
            <a:avLst/>
          </a:prstGeom>
        </p:spPr>
      </p:pic>
      <p:sp>
        <p:nvSpPr>
          <p:cNvPr id="37" name="Shape 24"/>
          <p:cNvSpPr/>
          <p:nvPr/>
        </p:nvSpPr>
        <p:spPr>
          <a:xfrm>
            <a:off x="8580120" y="2468880"/>
            <a:ext cx="1353312" cy="1737360"/>
          </a:xfrm>
          <a:prstGeom prst="roundRect">
            <a:avLst>
              <a:gd name="adj" fmla="val 6081"/>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38" name="Shape 25"/>
          <p:cNvSpPr/>
          <p:nvPr/>
        </p:nvSpPr>
        <p:spPr>
          <a:xfrm>
            <a:off x="8982456" y="2670048"/>
            <a:ext cx="548640" cy="548640"/>
          </a:xfrm>
          <a:prstGeom prst="ellipse">
            <a:avLst/>
          </a:prstGeom>
          <a:solidFill>
            <a:srgbClr val="EFEAFB"/>
          </a:solidFill>
          <a:ln/>
        </p:spPr>
      </p:sp>
      <p:pic>
        <p:nvPicPr>
          <p:cNvPr id="39" name="Image 11" descr="preencoded.png"/>
          <p:cNvPicPr>
            <a:picLocks noChangeAspect="1"/>
          </p:cNvPicPr>
          <p:nvPr/>
        </p:nvPicPr>
        <p:blipFill>
          <a:blip r:embed="rId10"/>
          <a:stretch>
            <a:fillRect/>
          </a:stretch>
        </p:blipFill>
        <p:spPr>
          <a:xfrm>
            <a:off x="9110472" y="2816352"/>
            <a:ext cx="292608" cy="292608"/>
          </a:xfrm>
          <a:prstGeom prst="rect">
            <a:avLst/>
          </a:prstGeom>
        </p:spPr>
      </p:pic>
      <p:sp>
        <p:nvSpPr>
          <p:cNvPr id="40" name="Text 26"/>
          <p:cNvSpPr txBox="1"/>
          <p:nvPr/>
        </p:nvSpPr>
        <p:spPr>
          <a:xfrm>
            <a:off x="8580120" y="3429000"/>
            <a:ext cx="1353312" cy="365760"/>
          </a:xfrm>
          <a:prstGeom prst="rect">
            <a:avLst/>
          </a:prstGeom>
          <a:noFill/>
          <a:ln/>
        </p:spPr>
        <p:txBody>
          <a:bodyPr wrap="square" lIns="0" tIns="0" rIns="0" bIns="0" rtlCol="0" anchor="ctr"/>
          <a:lstStyle/>
          <a:p>
            <a:pPr marL="0" indent="0" algn="ctr">
              <a:buNone/>
            </a:pPr>
            <a:r>
              <a:rPr lang="en-US" sz="1150" b="1" dirty="0">
                <a:solidFill>
                  <a:srgbClr val="1A1A2E"/>
                </a:solidFill>
                <a:latin typeface="Calibri" pitchFamily="34" charset="0"/>
                <a:ea typeface="Calibri" pitchFamily="34" charset="-122"/>
                <a:cs typeface="Calibri" pitchFamily="34" charset="-120"/>
              </a:rPr>
              <a:t>BETALEN</a:t>
            </a:r>
            <a:endParaRPr lang="en-US" sz="1150" dirty="0"/>
          </a:p>
        </p:txBody>
      </p:sp>
      <p:sp>
        <p:nvSpPr>
          <p:cNvPr id="41" name="Text 27"/>
          <p:cNvSpPr txBox="1"/>
          <p:nvPr/>
        </p:nvSpPr>
        <p:spPr>
          <a:xfrm>
            <a:off x="8580120" y="3767328"/>
            <a:ext cx="1353312" cy="320040"/>
          </a:xfrm>
          <a:prstGeom prst="rect">
            <a:avLst/>
          </a:prstGeom>
          <a:noFill/>
          <a:ln/>
        </p:spPr>
        <p:txBody>
          <a:bodyPr wrap="square" lIns="0" tIns="0" rIns="0" bIns="0" rtlCol="0" anchor="ctr"/>
          <a:lstStyle/>
          <a:p>
            <a:pPr marL="0" indent="0" algn="ctr">
              <a:buNone/>
            </a:pPr>
            <a:r>
              <a:rPr lang="en-US" sz="1300" i="1" dirty="0">
                <a:solidFill>
                  <a:srgbClr val="9B7BE8"/>
                </a:solidFill>
                <a:latin typeface="Cambria" pitchFamily="34" charset="0"/>
                <a:ea typeface="Cambria" pitchFamily="34" charset="-122"/>
                <a:cs typeface="Cambria" pitchFamily="34" charset="-120"/>
              </a:rPr>
              <a:t>6</a:t>
            </a:r>
            <a:endParaRPr lang="en-US" sz="1300" dirty="0"/>
          </a:p>
        </p:txBody>
      </p:sp>
      <p:pic>
        <p:nvPicPr>
          <p:cNvPr id="42" name="Image 12" descr="preencoded.png"/>
          <p:cNvPicPr>
            <a:picLocks noChangeAspect="1"/>
          </p:cNvPicPr>
          <p:nvPr/>
        </p:nvPicPr>
        <p:blipFill>
          <a:blip r:embed="rId5"/>
          <a:stretch>
            <a:fillRect/>
          </a:stretch>
        </p:blipFill>
        <p:spPr>
          <a:xfrm>
            <a:off x="9950196" y="3236976"/>
            <a:ext cx="201168" cy="201168"/>
          </a:xfrm>
          <a:prstGeom prst="rect">
            <a:avLst/>
          </a:prstGeom>
        </p:spPr>
      </p:pic>
      <p:sp>
        <p:nvSpPr>
          <p:cNvPr id="43" name="Shape 28"/>
          <p:cNvSpPr/>
          <p:nvPr/>
        </p:nvSpPr>
        <p:spPr>
          <a:xfrm>
            <a:off x="10168128" y="2468880"/>
            <a:ext cx="1353312" cy="1737360"/>
          </a:xfrm>
          <a:prstGeom prst="roundRect">
            <a:avLst>
              <a:gd name="adj" fmla="val 6081"/>
            </a:avLst>
          </a:prstGeom>
          <a:solidFill>
            <a:srgbClr val="6C3CE9"/>
          </a:solidFill>
          <a:ln w="12700">
            <a:solidFill>
              <a:srgbClr val="E1DCF2"/>
            </a:solidFill>
            <a:prstDash val="solid"/>
          </a:ln>
          <a:effectLst>
            <a:outerShdw blurRad="127000" dist="38100" dir="5400000" algn="bl" rotWithShape="0">
              <a:srgbClr val="3A3450">
                <a:alpha val="16000"/>
              </a:srgbClr>
            </a:outerShdw>
          </a:effectLst>
        </p:spPr>
      </p:sp>
      <p:sp>
        <p:nvSpPr>
          <p:cNvPr id="44" name="Shape 29"/>
          <p:cNvSpPr/>
          <p:nvPr/>
        </p:nvSpPr>
        <p:spPr>
          <a:xfrm>
            <a:off x="10570464" y="2670048"/>
            <a:ext cx="548640" cy="548640"/>
          </a:xfrm>
          <a:prstGeom prst="ellipse">
            <a:avLst/>
          </a:prstGeom>
          <a:solidFill>
            <a:srgbClr val="FFFFFF"/>
          </a:solidFill>
          <a:ln/>
        </p:spPr>
      </p:sp>
      <p:pic>
        <p:nvPicPr>
          <p:cNvPr id="45" name="Image 13" descr="preencoded.png"/>
          <p:cNvPicPr>
            <a:picLocks noChangeAspect="1"/>
          </p:cNvPicPr>
          <p:nvPr/>
        </p:nvPicPr>
        <p:blipFill>
          <a:blip r:embed="rId11"/>
          <a:stretch>
            <a:fillRect/>
          </a:stretch>
        </p:blipFill>
        <p:spPr>
          <a:xfrm>
            <a:off x="10698480" y="2816352"/>
            <a:ext cx="292608" cy="292608"/>
          </a:xfrm>
          <a:prstGeom prst="rect">
            <a:avLst/>
          </a:prstGeom>
        </p:spPr>
      </p:pic>
      <p:sp>
        <p:nvSpPr>
          <p:cNvPr id="46" name="Text 30"/>
          <p:cNvSpPr txBox="1"/>
          <p:nvPr/>
        </p:nvSpPr>
        <p:spPr>
          <a:xfrm>
            <a:off x="10168128" y="3429000"/>
            <a:ext cx="1353312"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PLAN</a:t>
            </a:r>
            <a:endParaRPr lang="en-US" sz="1150" dirty="0"/>
          </a:p>
        </p:txBody>
      </p:sp>
      <p:sp>
        <p:nvSpPr>
          <p:cNvPr id="47" name="Text 31"/>
          <p:cNvSpPr txBox="1"/>
          <p:nvPr/>
        </p:nvSpPr>
        <p:spPr>
          <a:xfrm>
            <a:off x="10168128" y="3767328"/>
            <a:ext cx="1353312" cy="320040"/>
          </a:xfrm>
          <a:prstGeom prst="rect">
            <a:avLst/>
          </a:prstGeom>
          <a:noFill/>
          <a:ln/>
        </p:spPr>
        <p:txBody>
          <a:bodyPr wrap="square" lIns="0" tIns="0" rIns="0" bIns="0" rtlCol="0" anchor="ctr"/>
          <a:lstStyle/>
          <a:p>
            <a:pPr marL="0" indent="0" algn="ctr">
              <a:buNone/>
            </a:pPr>
            <a:r>
              <a:rPr lang="en-US" sz="1300" i="1" dirty="0">
                <a:solidFill>
                  <a:srgbClr val="E4D9FA"/>
                </a:solidFill>
                <a:latin typeface="Cambria" pitchFamily="34" charset="0"/>
                <a:ea typeface="Cambria" pitchFamily="34" charset="-122"/>
                <a:cs typeface="Cambria" pitchFamily="34" charset="-120"/>
              </a:rPr>
              <a:t>7</a:t>
            </a:r>
            <a:endParaRPr lang="en-US" sz="1300" dirty="0"/>
          </a:p>
        </p:txBody>
      </p:sp>
      <p:sp>
        <p:nvSpPr>
          <p:cNvPr id="48" name="Text 32"/>
          <p:cNvSpPr txBox="1"/>
          <p:nvPr/>
        </p:nvSpPr>
        <p:spPr>
          <a:xfrm>
            <a:off x="640080" y="4617720"/>
            <a:ext cx="10881360" cy="457200"/>
          </a:xfrm>
          <a:prstGeom prst="rect">
            <a:avLst/>
          </a:prstGeom>
          <a:noFill/>
          <a:ln/>
        </p:spPr>
        <p:txBody>
          <a:bodyPr wrap="square" lIns="0" tIns="0" rIns="0" bIns="0" rtlCol="0" anchor="ctr"/>
          <a:lstStyle/>
          <a:p>
            <a:pPr marL="0" indent="0">
              <a:buNone/>
            </a:pPr>
            <a:r>
              <a:rPr lang="en-US" sz="1300" dirty="0">
                <a:solidFill>
                  <a:srgbClr val="6B6B7D"/>
                </a:solidFill>
                <a:latin typeface="Calibri" pitchFamily="34" charset="0"/>
                <a:ea typeface="Calibri" pitchFamily="34" charset="-122"/>
                <a:cs typeface="Calibri" pitchFamily="34" charset="-120"/>
              </a:rPr>
              <a:t>Kernschermen: Landing → Intake (5 vragen) → Ideeën (8–12 kaarten) → Convergentie + betaalscherm → Window Plan (het betaalde resultaat).</a:t>
            </a:r>
            <a:endParaRPr lang="en-US" sz="1300" dirty="0"/>
          </a:p>
        </p:txBody>
      </p:sp>
      <p:sp>
        <p:nvSpPr>
          <p:cNvPr id="49" name="Text 33"/>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De kernloop</a:t>
            </a:r>
            <a:endParaRPr lang="en-US" sz="1000" dirty="0"/>
          </a:p>
        </p:txBody>
      </p:sp>
      <p:sp>
        <p:nvSpPr>
          <p:cNvPr id="50" name="Text 34"/>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4B2AA6">
              <a:alpha val="40000"/>
            </a:srgbClr>
          </a:solidFill>
          <a:ln/>
        </p:spPr>
      </p:sp>
      <p:sp>
        <p:nvSpPr>
          <p:cNvPr id="3" name="Text 1"/>
          <p:cNvSpPr txBox="1"/>
          <p:nvPr/>
        </p:nvSpPr>
        <p:spPr>
          <a:xfrm>
            <a:off x="640080" y="457200"/>
            <a:ext cx="7315200" cy="274320"/>
          </a:xfrm>
          <a:prstGeom prst="rect">
            <a:avLst/>
          </a:prstGeom>
          <a:noFill/>
          <a:ln/>
        </p:spPr>
        <p:txBody>
          <a:bodyPr wrap="square" lIns="0" tIns="0" rIns="0" bIns="0" rtlCol="0" anchor="ctr"/>
          <a:lstStyle/>
          <a:p>
            <a:pPr marL="0" indent="0">
              <a:buNone/>
            </a:pPr>
            <a:r>
              <a:rPr lang="en-US" sz="1200" b="1" kern="0" spc="200" dirty="0">
                <a:solidFill>
                  <a:srgbClr val="B7A6EE"/>
                </a:solidFill>
                <a:latin typeface="Calibri" pitchFamily="34" charset="0"/>
                <a:ea typeface="Calibri" pitchFamily="34" charset="-122"/>
                <a:cs typeface="Calibri" pitchFamily="34" charset="-120"/>
              </a:rPr>
              <a:t>EERSTE VISUELE RICHTING</a:t>
            </a:r>
            <a:endParaRPr lang="en-US" sz="1200" dirty="0"/>
          </a:p>
        </p:txBody>
      </p:sp>
      <p:sp>
        <p:nvSpPr>
          <p:cNvPr id="4" name="Text 2"/>
          <p:cNvSpPr txBox="1"/>
          <p:nvPr/>
        </p:nvSpPr>
        <p:spPr>
          <a:xfrm>
            <a:off x="640080" y="749808"/>
            <a:ext cx="10515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Landingspagina — “A Window Into What Could Be”</a:t>
            </a:r>
            <a:endParaRPr lang="en-US" sz="2600" dirty="0"/>
          </a:p>
        </p:txBody>
      </p:sp>
      <p:sp>
        <p:nvSpPr>
          <p:cNvPr id="5" name="Shape 3"/>
          <p:cNvSpPr/>
          <p:nvPr/>
        </p:nvSpPr>
        <p:spPr>
          <a:xfrm>
            <a:off x="2182216" y="1344168"/>
            <a:ext cx="7827264" cy="4436840"/>
          </a:xfrm>
          <a:prstGeom prst="roundRect">
            <a:avLst>
              <a:gd name="adj" fmla="val 1649"/>
            </a:avLst>
          </a:prstGeom>
          <a:solidFill>
            <a:srgbClr val="2A2450"/>
          </a:solidFill>
          <a:ln/>
          <a:effectLst>
            <a:outerShdw blurRad="228600" dist="76200" dir="5400000" algn="bl" rotWithShape="0">
              <a:srgbClr val="000000">
                <a:alpha val="45000"/>
              </a:srgbClr>
            </a:outerShdw>
          </a:effectLst>
        </p:spPr>
      </p:sp>
      <p:pic>
        <p:nvPicPr>
          <p:cNvPr id="6" name="Image 0" descr="landing_mockup.jpg"/>
          <p:cNvPicPr>
            <a:picLocks noChangeAspect="1"/>
          </p:cNvPicPr>
          <p:nvPr/>
        </p:nvPicPr>
        <p:blipFill>
          <a:blip r:embed="rId3"/>
          <a:stretch>
            <a:fillRect/>
          </a:stretch>
        </p:blipFill>
        <p:spPr>
          <a:xfrm>
            <a:off x="2255368" y="1417320"/>
            <a:ext cx="7680960" cy="4290536"/>
          </a:xfrm>
          <a:prstGeom prst="rect">
            <a:avLst/>
          </a:prstGeom>
        </p:spPr>
      </p:pic>
      <p:sp>
        <p:nvSpPr>
          <p:cNvPr id="7" name="Text 4"/>
          <p:cNvSpPr txBox="1"/>
          <p:nvPr/>
        </p:nvSpPr>
        <p:spPr>
          <a:xfrm>
            <a:off x="640080" y="5936456"/>
            <a:ext cx="10881360" cy="457200"/>
          </a:xfrm>
          <a:prstGeom prst="rect">
            <a:avLst/>
          </a:prstGeom>
          <a:noFill/>
          <a:ln/>
        </p:spPr>
        <p:txBody>
          <a:bodyPr wrap="square" lIns="0" tIns="0" rIns="0" bIns="0" rtlCol="0" anchor="ctr"/>
          <a:lstStyle/>
          <a:p>
            <a:pPr marL="0" indent="0">
              <a:buNone/>
            </a:pPr>
            <a:r>
              <a:rPr lang="en-US" sz="1200" i="1" dirty="0">
                <a:solidFill>
                  <a:srgbClr val="9B90C4"/>
                </a:solidFill>
                <a:latin typeface="Calibri" pitchFamily="34" charset="0"/>
                <a:ea typeface="Calibri" pitchFamily="34" charset="-122"/>
                <a:cs typeface="Calibri" pitchFamily="34" charset="-120"/>
              </a:rPr>
              <a:t>Gegenereerd o.b.v. het merk-DNA uit het blueprint: intelligent, nieuwsgierig, warm, licht ondeugend — dichter bij een premium reismagazine dan een productiviteitsdashboard.</a:t>
            </a:r>
            <a:endParaRPr lang="en-US" sz="1200" dirty="0"/>
          </a:p>
        </p:txBody>
      </p:sp>
      <p:sp>
        <p:nvSpPr>
          <p:cNvPr id="8" name="Text 5"/>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8A8AA0"/>
                </a:solidFill>
                <a:latin typeface="Calibri" pitchFamily="34" charset="0"/>
                <a:ea typeface="Calibri" pitchFamily="34" charset="-122"/>
                <a:cs typeface="Calibri" pitchFamily="34" charset="-120"/>
              </a:rPr>
              <a:t>Merk &amp; visuele richting</a:t>
            </a:r>
            <a:endParaRPr lang="en-US" sz="1000" dirty="0"/>
          </a:p>
        </p:txBody>
      </p:sp>
      <p:sp>
        <p:nvSpPr>
          <p:cNvPr id="9" name="Text 6"/>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8A8AA0"/>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BOUWSPOOR DEEL I</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Week 1–4 — Bouwen: fundament tot engine</a:t>
            </a:r>
            <a:endParaRPr lang="en-US" sz="2600" dirty="0"/>
          </a:p>
        </p:txBody>
      </p:sp>
      <p:sp>
        <p:nvSpPr>
          <p:cNvPr id="6" name="Shape 3"/>
          <p:cNvSpPr/>
          <p:nvPr/>
        </p:nvSpPr>
        <p:spPr>
          <a:xfrm>
            <a:off x="640080" y="1508760"/>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7" name="Shape 4"/>
          <p:cNvSpPr/>
          <p:nvPr/>
        </p:nvSpPr>
        <p:spPr>
          <a:xfrm>
            <a:off x="841248" y="1709928"/>
            <a:ext cx="1005840" cy="621792"/>
          </a:xfrm>
          <a:prstGeom prst="roundRect">
            <a:avLst>
              <a:gd name="adj" fmla="val 14706"/>
            </a:avLst>
          </a:prstGeom>
          <a:solidFill>
            <a:srgbClr val="6C3CE9"/>
          </a:solidFill>
          <a:ln/>
        </p:spPr>
      </p:sp>
      <p:sp>
        <p:nvSpPr>
          <p:cNvPr id="8" name="Text 5"/>
          <p:cNvSpPr txBox="1"/>
          <p:nvPr/>
        </p:nvSpPr>
        <p:spPr>
          <a:xfrm>
            <a:off x="841248" y="1709928"/>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2057400" y="1618488"/>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Fundament &amp; registratie</a:t>
            </a:r>
            <a:endParaRPr lang="en-US" sz="1450" dirty="0"/>
          </a:p>
        </p:txBody>
      </p:sp>
      <p:sp>
        <p:nvSpPr>
          <p:cNvPr id="10" name="Text 7"/>
          <p:cNvSpPr txBox="1"/>
          <p:nvPr/>
        </p:nvSpPr>
        <p:spPr>
          <a:xfrm>
            <a:off x="2057400" y="1929384"/>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Domeinnaam + KVK-aanvraag lopen · Next.js gekoppeld aan Vercel en Supabase · Stripe in testmodus.</a:t>
            </a:r>
            <a:endParaRPr lang="en-US" sz="1150" dirty="0"/>
          </a:p>
        </p:txBody>
      </p:sp>
      <p:sp>
        <p:nvSpPr>
          <p:cNvPr id="11" name="Shape 8"/>
          <p:cNvSpPr/>
          <p:nvPr/>
        </p:nvSpPr>
        <p:spPr>
          <a:xfrm>
            <a:off x="640080" y="2660904"/>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2" name="Shape 9"/>
          <p:cNvSpPr/>
          <p:nvPr/>
        </p:nvSpPr>
        <p:spPr>
          <a:xfrm>
            <a:off x="841248" y="2862072"/>
            <a:ext cx="1005840" cy="621792"/>
          </a:xfrm>
          <a:prstGeom prst="roundRect">
            <a:avLst>
              <a:gd name="adj" fmla="val 14706"/>
            </a:avLst>
          </a:prstGeom>
          <a:solidFill>
            <a:srgbClr val="6C3CE9"/>
          </a:solidFill>
          <a:ln/>
        </p:spPr>
      </p:sp>
      <p:sp>
        <p:nvSpPr>
          <p:cNvPr id="13" name="Text 10"/>
          <p:cNvSpPr txBox="1"/>
          <p:nvPr/>
        </p:nvSpPr>
        <p:spPr>
          <a:xfrm>
            <a:off x="841248" y="2862072"/>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txBox="1"/>
          <p:nvPr/>
        </p:nvSpPr>
        <p:spPr>
          <a:xfrm>
            <a:off x="2057400" y="2770632"/>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Landing, intake &amp; bedrijf officieel</a:t>
            </a:r>
            <a:endParaRPr lang="en-US" sz="1450" dirty="0"/>
          </a:p>
        </p:txBody>
      </p:sp>
      <p:sp>
        <p:nvSpPr>
          <p:cNvPr id="15" name="Text 12"/>
          <p:cNvSpPr txBox="1"/>
          <p:nvPr/>
        </p:nvSpPr>
        <p:spPr>
          <a:xfrm>
            <a:off x="2057400" y="3081528"/>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Landingspagina en 5-vragen intake live · KVK-nummer binnen · zakelijke bankrekening geopend.</a:t>
            </a:r>
            <a:endParaRPr lang="en-US" sz="1150" dirty="0"/>
          </a:p>
        </p:txBody>
      </p:sp>
      <p:sp>
        <p:nvSpPr>
          <p:cNvPr id="16" name="Shape 13"/>
          <p:cNvSpPr/>
          <p:nvPr/>
        </p:nvSpPr>
        <p:spPr>
          <a:xfrm>
            <a:off x="640080" y="3813048"/>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7" name="Shape 14"/>
          <p:cNvSpPr/>
          <p:nvPr/>
        </p:nvSpPr>
        <p:spPr>
          <a:xfrm>
            <a:off x="841248" y="4014216"/>
            <a:ext cx="1005840" cy="621792"/>
          </a:xfrm>
          <a:prstGeom prst="roundRect">
            <a:avLst>
              <a:gd name="adj" fmla="val 14706"/>
            </a:avLst>
          </a:prstGeom>
          <a:solidFill>
            <a:srgbClr val="6C3CE9"/>
          </a:solidFill>
          <a:ln/>
        </p:spPr>
      </p:sp>
      <p:sp>
        <p:nvSpPr>
          <p:cNvPr id="18" name="Text 15"/>
          <p:cNvSpPr txBox="1"/>
          <p:nvPr/>
        </p:nvSpPr>
        <p:spPr>
          <a:xfrm>
            <a:off x="841248" y="4014216"/>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txBox="1"/>
          <p:nvPr/>
        </p:nvSpPr>
        <p:spPr>
          <a:xfrm>
            <a:off x="2057400" y="3922776"/>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Possibility Engine v1 &amp; juridische basis</a:t>
            </a:r>
            <a:endParaRPr lang="en-US" sz="1450" dirty="0"/>
          </a:p>
        </p:txBody>
      </p:sp>
      <p:sp>
        <p:nvSpPr>
          <p:cNvPr id="20" name="Text 17"/>
          <p:cNvSpPr txBox="1"/>
          <p:nvPr/>
        </p:nvSpPr>
        <p:spPr>
          <a:xfrm>
            <a:off x="2057400" y="4233672"/>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AI-promptlaag genereert 8–12 ideeën langs meerdere ‘lenzen’ · algemene voorwaarden en privacyverklaring klaar.</a:t>
            </a:r>
            <a:endParaRPr lang="en-US" sz="1150" dirty="0"/>
          </a:p>
        </p:txBody>
      </p:sp>
      <p:sp>
        <p:nvSpPr>
          <p:cNvPr id="21" name="Shape 18"/>
          <p:cNvSpPr/>
          <p:nvPr/>
        </p:nvSpPr>
        <p:spPr>
          <a:xfrm>
            <a:off x="640080" y="4965192"/>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2" name="Shape 19"/>
          <p:cNvSpPr/>
          <p:nvPr/>
        </p:nvSpPr>
        <p:spPr>
          <a:xfrm>
            <a:off x="841248" y="5166360"/>
            <a:ext cx="1005840" cy="621792"/>
          </a:xfrm>
          <a:prstGeom prst="roundRect">
            <a:avLst>
              <a:gd name="adj" fmla="val 14706"/>
            </a:avLst>
          </a:prstGeom>
          <a:solidFill>
            <a:srgbClr val="6C3CE9"/>
          </a:solidFill>
          <a:ln/>
        </p:spPr>
      </p:sp>
      <p:sp>
        <p:nvSpPr>
          <p:cNvPr id="23" name="Text 20"/>
          <p:cNvSpPr txBox="1"/>
          <p:nvPr/>
        </p:nvSpPr>
        <p:spPr>
          <a:xfrm>
            <a:off x="841248" y="5166360"/>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2057400" y="5074920"/>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Interactie &amp; convergentie</a:t>
            </a:r>
            <a:endParaRPr lang="en-US" sz="1450" dirty="0"/>
          </a:p>
        </p:txBody>
      </p:sp>
      <p:sp>
        <p:nvSpPr>
          <p:cNvPr id="25" name="Text 22"/>
          <p:cNvSpPr txBox="1"/>
          <p:nvPr/>
        </p:nvSpPr>
        <p:spPr>
          <a:xfrm>
            <a:off x="2057400" y="5385816"/>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Like/skip/“maak het gekker”-knoppen · convergentielogica kiest 1–3 kandidaten · cookie-consent ingericht.</a:t>
            </a:r>
            <a:endParaRPr lang="en-US" sz="1150" dirty="0"/>
          </a:p>
        </p:txBody>
      </p:sp>
      <p:sp>
        <p:nvSpPr>
          <p:cNvPr id="26" name="Text 23"/>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Week 1–4 — Bouwen: fundament tot engine</a:t>
            </a:r>
            <a:endParaRPr lang="en-US" sz="1000" dirty="0"/>
          </a:p>
        </p:txBody>
      </p:sp>
      <p:sp>
        <p:nvSpPr>
          <p:cNvPr id="27" name="Text 24"/>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BOUWSPOOR DEEL II</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Week 5–8 — Betalen, lanceren, besluiten</a:t>
            </a:r>
            <a:endParaRPr lang="en-US" sz="2600" dirty="0"/>
          </a:p>
        </p:txBody>
      </p:sp>
      <p:sp>
        <p:nvSpPr>
          <p:cNvPr id="6" name="Shape 3"/>
          <p:cNvSpPr/>
          <p:nvPr/>
        </p:nvSpPr>
        <p:spPr>
          <a:xfrm>
            <a:off x="640080" y="1508760"/>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7" name="Shape 4"/>
          <p:cNvSpPr/>
          <p:nvPr/>
        </p:nvSpPr>
        <p:spPr>
          <a:xfrm>
            <a:off x="841248" y="1709928"/>
            <a:ext cx="1005840" cy="621792"/>
          </a:xfrm>
          <a:prstGeom prst="roundRect">
            <a:avLst>
              <a:gd name="adj" fmla="val 14706"/>
            </a:avLst>
          </a:prstGeom>
          <a:solidFill>
            <a:srgbClr val="6C3CE9"/>
          </a:solidFill>
          <a:ln/>
        </p:spPr>
      </p:sp>
      <p:sp>
        <p:nvSpPr>
          <p:cNvPr id="8" name="Text 5"/>
          <p:cNvSpPr txBox="1"/>
          <p:nvPr/>
        </p:nvSpPr>
        <p:spPr>
          <a:xfrm>
            <a:off x="841248" y="1709928"/>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9" name="Text 6"/>
          <p:cNvSpPr txBox="1"/>
          <p:nvPr/>
        </p:nvSpPr>
        <p:spPr>
          <a:xfrm>
            <a:off x="2057400" y="1618488"/>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Betalen &amp; Window Plan</a:t>
            </a:r>
            <a:endParaRPr lang="en-US" sz="1450" dirty="0"/>
          </a:p>
        </p:txBody>
      </p:sp>
      <p:sp>
        <p:nvSpPr>
          <p:cNvPr id="10" name="Text 7"/>
          <p:cNvSpPr txBox="1"/>
          <p:nvPr/>
        </p:nvSpPr>
        <p:spPr>
          <a:xfrm>
            <a:off x="2057400" y="1929384"/>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Stripe Checkout live · Window Plan (scherm + PDF) + bevestigingsmail · herroepingsrecht-bevestiging ingebouwd.</a:t>
            </a:r>
            <a:endParaRPr lang="en-US" sz="1150" dirty="0"/>
          </a:p>
        </p:txBody>
      </p:sp>
      <p:sp>
        <p:nvSpPr>
          <p:cNvPr id="11" name="Shape 8"/>
          <p:cNvSpPr/>
          <p:nvPr/>
        </p:nvSpPr>
        <p:spPr>
          <a:xfrm>
            <a:off x="640080" y="2660904"/>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2" name="Shape 9"/>
          <p:cNvSpPr/>
          <p:nvPr/>
        </p:nvSpPr>
        <p:spPr>
          <a:xfrm>
            <a:off x="841248" y="2862072"/>
            <a:ext cx="1005840" cy="621792"/>
          </a:xfrm>
          <a:prstGeom prst="roundRect">
            <a:avLst>
              <a:gd name="adj" fmla="val 14706"/>
            </a:avLst>
          </a:prstGeom>
          <a:solidFill>
            <a:srgbClr val="6C3CE9"/>
          </a:solidFill>
          <a:ln/>
        </p:spPr>
      </p:sp>
      <p:sp>
        <p:nvSpPr>
          <p:cNvPr id="13" name="Text 10"/>
          <p:cNvSpPr txBox="1"/>
          <p:nvPr/>
        </p:nvSpPr>
        <p:spPr>
          <a:xfrm>
            <a:off x="841248" y="2862072"/>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4" name="Text 11"/>
          <p:cNvSpPr txBox="1"/>
          <p:nvPr/>
        </p:nvSpPr>
        <p:spPr>
          <a:xfrm>
            <a:off x="2057400" y="2770632"/>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Afwerking &amp; eigen netwerktest</a:t>
            </a:r>
            <a:endParaRPr lang="en-US" sz="1450" dirty="0"/>
          </a:p>
        </p:txBody>
      </p:sp>
      <p:sp>
        <p:nvSpPr>
          <p:cNvPr id="15" name="Text 12"/>
          <p:cNvSpPr txBox="1"/>
          <p:nvPr/>
        </p:nvSpPr>
        <p:spPr>
          <a:xfrm>
            <a:off x="2057400" y="3081528"/>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Basisprofiel + referral-link · 10–15 mensen uit eigen netwerk testen de échte app · bugs gefixt.</a:t>
            </a:r>
            <a:endParaRPr lang="en-US" sz="1150" dirty="0"/>
          </a:p>
        </p:txBody>
      </p:sp>
      <p:sp>
        <p:nvSpPr>
          <p:cNvPr id="16" name="Shape 13"/>
          <p:cNvSpPr/>
          <p:nvPr/>
        </p:nvSpPr>
        <p:spPr>
          <a:xfrm>
            <a:off x="640080" y="3813048"/>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7" name="Shape 14"/>
          <p:cNvSpPr/>
          <p:nvPr/>
        </p:nvSpPr>
        <p:spPr>
          <a:xfrm>
            <a:off x="841248" y="4014216"/>
            <a:ext cx="1005840" cy="621792"/>
          </a:xfrm>
          <a:prstGeom prst="roundRect">
            <a:avLst>
              <a:gd name="adj" fmla="val 14706"/>
            </a:avLst>
          </a:prstGeom>
          <a:solidFill>
            <a:srgbClr val="6C3CE9"/>
          </a:solidFill>
          <a:ln/>
        </p:spPr>
      </p:sp>
      <p:sp>
        <p:nvSpPr>
          <p:cNvPr id="18" name="Text 15"/>
          <p:cNvSpPr txBox="1"/>
          <p:nvPr/>
        </p:nvSpPr>
        <p:spPr>
          <a:xfrm>
            <a:off x="841248" y="4014216"/>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9" name="Text 16"/>
          <p:cNvSpPr txBox="1"/>
          <p:nvPr/>
        </p:nvSpPr>
        <p:spPr>
          <a:xfrm>
            <a:off x="2057400" y="3922776"/>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Zachte lancering</a:t>
            </a:r>
            <a:endParaRPr lang="en-US" sz="1450" dirty="0"/>
          </a:p>
        </p:txBody>
      </p:sp>
      <p:sp>
        <p:nvSpPr>
          <p:cNvPr id="20" name="Text 17"/>
          <p:cNvSpPr txBox="1"/>
          <p:nvPr/>
        </p:nvSpPr>
        <p:spPr>
          <a:xfrm>
            <a:off x="2057400" y="4233672"/>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Breder gedeeld, klein testbudget (€50–100) · dagelijks gemeten: activatie, conversie, omzet per bezoeker, deelratio.</a:t>
            </a:r>
            <a:endParaRPr lang="en-US" sz="1150" dirty="0"/>
          </a:p>
        </p:txBody>
      </p:sp>
      <p:sp>
        <p:nvSpPr>
          <p:cNvPr id="21" name="Shape 18"/>
          <p:cNvSpPr/>
          <p:nvPr/>
        </p:nvSpPr>
        <p:spPr>
          <a:xfrm>
            <a:off x="640080" y="4965192"/>
            <a:ext cx="10881360" cy="1024128"/>
          </a:xfrm>
          <a:prstGeom prst="roundRect">
            <a:avLst>
              <a:gd name="adj" fmla="val 803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2" name="Shape 19"/>
          <p:cNvSpPr/>
          <p:nvPr/>
        </p:nvSpPr>
        <p:spPr>
          <a:xfrm>
            <a:off x="841248" y="5166360"/>
            <a:ext cx="1005840" cy="621792"/>
          </a:xfrm>
          <a:prstGeom prst="roundRect">
            <a:avLst>
              <a:gd name="adj" fmla="val 14706"/>
            </a:avLst>
          </a:prstGeom>
          <a:solidFill>
            <a:srgbClr val="6C3CE9"/>
          </a:solidFill>
          <a:ln/>
        </p:spPr>
      </p:sp>
      <p:sp>
        <p:nvSpPr>
          <p:cNvPr id="23" name="Text 20"/>
          <p:cNvSpPr txBox="1"/>
          <p:nvPr/>
        </p:nvSpPr>
        <p:spPr>
          <a:xfrm>
            <a:off x="841248" y="5166360"/>
            <a:ext cx="1005840" cy="621792"/>
          </a:xfrm>
          <a:prstGeom prst="rect">
            <a:avLst/>
          </a:prstGeom>
          <a:noFill/>
          <a:ln/>
        </p:spPr>
        <p:txBody>
          <a:bodyPr wrap="square" lIns="0" tIns="0" rIns="0" bIns="0" rtlCol="0" anchor="ctr"/>
          <a:lstStyle/>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WEEK</a:t>
            </a:r>
            <a:endParaRPr lang="en-US" sz="1100" dirty="0"/>
          </a:p>
          <a:p>
            <a:pPr marL="0" indent="0" algn="ctr">
              <a:lnSpc>
                <a:spcPct val="95000"/>
              </a:lnSpc>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4" name="Text 21"/>
          <p:cNvSpPr txBox="1"/>
          <p:nvPr/>
        </p:nvSpPr>
        <p:spPr>
          <a:xfrm>
            <a:off x="2057400" y="5074920"/>
            <a:ext cx="9235440" cy="320040"/>
          </a:xfrm>
          <a:prstGeom prst="rect">
            <a:avLst/>
          </a:prstGeom>
          <a:noFill/>
          <a:ln/>
        </p:spPr>
        <p:txBody>
          <a:bodyPr wrap="square" lIns="0" tIns="0" rIns="0" bIns="0" rtlCol="0" anchor="ctr"/>
          <a:lstStyle/>
          <a:p>
            <a:pPr marL="0" indent="0">
              <a:buNone/>
            </a:pPr>
            <a:r>
              <a:rPr lang="en-US" sz="1450" b="1" dirty="0">
                <a:solidFill>
                  <a:srgbClr val="1A1A2E"/>
                </a:solidFill>
                <a:latin typeface="Calibri" pitchFamily="34" charset="0"/>
                <a:ea typeface="Calibri" pitchFamily="34" charset="-122"/>
                <a:cs typeface="Calibri" pitchFamily="34" charset="-120"/>
              </a:rPr>
              <a:t>Meten &amp; besluiten</a:t>
            </a:r>
            <a:endParaRPr lang="en-US" sz="1450" dirty="0"/>
          </a:p>
        </p:txBody>
      </p:sp>
      <p:sp>
        <p:nvSpPr>
          <p:cNvPr id="25" name="Text 22"/>
          <p:cNvSpPr txBox="1"/>
          <p:nvPr/>
        </p:nvSpPr>
        <p:spPr>
          <a:xfrm>
            <a:off x="2057400" y="5385816"/>
            <a:ext cx="9235440" cy="502920"/>
          </a:xfrm>
          <a:prstGeom prst="rect">
            <a:avLst/>
          </a:prstGeom>
          <a:noFill/>
          <a:ln/>
        </p:spPr>
        <p:txBody>
          <a:bodyPr wrap="square" lIns="0" tIns="0" rIns="0" bIns="0" rtlCol="0" anchor="ctr"/>
          <a:lstStyle/>
          <a:p>
            <a:pPr marL="0" indent="0">
              <a:lnSpc>
                <a:spcPct val="105000"/>
              </a:lnSpc>
              <a:buNone/>
            </a:pPr>
            <a:r>
              <a:rPr lang="en-US" sz="1150" dirty="0">
                <a:solidFill>
                  <a:srgbClr val="6B6B7D"/>
                </a:solidFill>
                <a:latin typeface="Calibri" pitchFamily="34" charset="0"/>
                <a:ea typeface="Calibri" pitchFamily="34" charset="-122"/>
                <a:cs typeface="Calibri" pitchFamily="34" charset="-120"/>
              </a:rPr>
              <a:t>Resultaten naast de succescriteria gelegd · besluit: doorbouwen, bijsturen, of pauzeren.</a:t>
            </a:r>
            <a:endParaRPr lang="en-US" sz="1150" dirty="0"/>
          </a:p>
        </p:txBody>
      </p:sp>
      <p:sp>
        <p:nvSpPr>
          <p:cNvPr id="26" name="Text 23"/>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Week 5–8 — Betalen, lanceren, besluiten</a:t>
            </a:r>
            <a:endParaRPr lang="en-US" sz="1000" dirty="0"/>
          </a:p>
        </p:txBody>
      </p:sp>
      <p:sp>
        <p:nvSpPr>
          <p:cNvPr id="27" name="Text 24"/>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TECHNIEK</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Hosting: kan Vimexx dit?</a:t>
            </a:r>
            <a:endParaRPr lang="en-US" sz="2600" dirty="0"/>
          </a:p>
        </p:txBody>
      </p:sp>
      <p:sp>
        <p:nvSpPr>
          <p:cNvPr id="6" name="Text 3"/>
          <p:cNvSpPr txBox="1"/>
          <p:nvPr/>
        </p:nvSpPr>
        <p:spPr>
          <a:xfrm>
            <a:off x="640080" y="1371600"/>
            <a:ext cx="10881360" cy="365760"/>
          </a:xfrm>
          <a:prstGeom prst="rect">
            <a:avLst/>
          </a:prstGeom>
          <a:noFill/>
          <a:ln/>
        </p:spPr>
        <p:txBody>
          <a:bodyPr wrap="square" lIns="0" tIns="0" rIns="0" bIns="0" rtlCol="0" anchor="ctr"/>
          <a:lstStyle/>
          <a:p>
            <a:pPr marL="0" indent="0">
              <a:buNone/>
            </a:pPr>
            <a:r>
              <a:rPr lang="en-US" sz="1400" i="1" dirty="0">
                <a:solidFill>
                  <a:srgbClr val="6B6B7D"/>
                </a:solidFill>
                <a:latin typeface="Calibri" pitchFamily="34" charset="0"/>
                <a:ea typeface="Calibri" pitchFamily="34" charset="-122"/>
                <a:cs typeface="Calibri" pitchFamily="34" charset="-120"/>
              </a:rPr>
              <a:t>Kort antwoord: nee, niet voor de app zelf — wel voor domeinnaam en zakelijke e-mail.</a:t>
            </a:r>
            <a:endParaRPr lang="en-US" sz="1400" dirty="0"/>
          </a:p>
        </p:txBody>
      </p:sp>
      <p:sp>
        <p:nvSpPr>
          <p:cNvPr id="7" name="Shape 4"/>
          <p:cNvSpPr/>
          <p:nvPr/>
        </p:nvSpPr>
        <p:spPr>
          <a:xfrm>
            <a:off x="640080" y="1965960"/>
            <a:ext cx="5212080" cy="3977640"/>
          </a:xfrm>
          <a:prstGeom prst="roundRect">
            <a:avLst>
              <a:gd name="adj" fmla="val 2069"/>
            </a:avLst>
          </a:prstGeom>
          <a:solidFill>
            <a:srgbClr val="FBEFE8"/>
          </a:solidFill>
          <a:ln/>
        </p:spPr>
      </p:sp>
      <p:pic>
        <p:nvPicPr>
          <p:cNvPr id="8" name="Image 1" descr="preencoded.png"/>
          <p:cNvPicPr>
            <a:picLocks noChangeAspect="1"/>
          </p:cNvPicPr>
          <p:nvPr/>
        </p:nvPicPr>
        <p:blipFill>
          <a:blip r:embed="rId4"/>
          <a:stretch>
            <a:fillRect/>
          </a:stretch>
        </p:blipFill>
        <p:spPr>
          <a:xfrm>
            <a:off x="914400" y="2240280"/>
            <a:ext cx="310896" cy="310896"/>
          </a:xfrm>
          <a:prstGeom prst="rect">
            <a:avLst/>
          </a:prstGeom>
        </p:spPr>
      </p:pic>
      <p:sp>
        <p:nvSpPr>
          <p:cNvPr id="9" name="Text 5"/>
          <p:cNvSpPr txBox="1"/>
          <p:nvPr/>
        </p:nvSpPr>
        <p:spPr>
          <a:xfrm>
            <a:off x="1353312" y="2212848"/>
            <a:ext cx="4297680" cy="365760"/>
          </a:xfrm>
          <a:prstGeom prst="rect">
            <a:avLst/>
          </a:prstGeom>
          <a:noFill/>
          <a:ln/>
        </p:spPr>
        <p:txBody>
          <a:bodyPr wrap="square" lIns="0" tIns="0" rIns="0" bIns="0" rtlCol="0" anchor="ctr"/>
          <a:lstStyle/>
          <a:p>
            <a:pPr marL="0" indent="0">
              <a:buNone/>
            </a:pPr>
            <a:r>
              <a:rPr lang="en-US" sz="1500" b="1" dirty="0">
                <a:solidFill>
                  <a:srgbClr val="B3441E"/>
                </a:solidFill>
                <a:latin typeface="Calibri" pitchFamily="34" charset="0"/>
                <a:ea typeface="Calibri" pitchFamily="34" charset="-122"/>
                <a:cs typeface="Calibri" pitchFamily="34" charset="-120"/>
              </a:rPr>
              <a:t>Niet geschikt voor de app</a:t>
            </a:r>
            <a:endParaRPr lang="en-US" sz="1500" dirty="0"/>
          </a:p>
        </p:txBody>
      </p:sp>
      <p:sp>
        <p:nvSpPr>
          <p:cNvPr id="10" name="Text 6"/>
          <p:cNvSpPr txBox="1"/>
          <p:nvPr/>
        </p:nvSpPr>
        <p:spPr>
          <a:xfrm>
            <a:off x="914400" y="2743200"/>
            <a:ext cx="4663440" cy="2971800"/>
          </a:xfrm>
          <a:prstGeom prst="rect">
            <a:avLst/>
          </a:prstGeom>
          <a:noFill/>
          <a:ln/>
        </p:spPr>
        <p:txBody>
          <a:bodyPr wrap="square" lIns="0" tIns="0" rIns="0" bIns="0" rtlCol="0" anchor="ctr"/>
          <a:lstStyle/>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Vimexx' gewone (shared) hostingpakketten draaien op Apache/PHP, gericht op sites zoals WordPress. Node.js — de technologie achter de Next.js-app van WINDOW — wordt hierop niet ondersteund; dat kan alleen op een VPS of dedicated server.</a:t>
            </a:r>
            <a:endParaRPr lang="en-US" sz="1250" dirty="0"/>
          </a:p>
          <a:p>
            <a:pPr marL="0" indent="0">
              <a:lnSpc>
                <a:spcPct val="120000"/>
              </a:lnSpc>
              <a:buNone/>
            </a:pPr>
            <a:endParaRPr lang="en-US" sz="1250" dirty="0"/>
          </a:p>
          <a:p>
            <a:pPr marL="0" indent="0">
              <a:lnSpc>
                <a:spcPct val="120000"/>
              </a:lnSpc>
              <a:buNone/>
            </a:pPr>
            <a:r>
              <a:rPr lang="en-US" sz="1250" dirty="0">
                <a:solidFill>
                  <a:srgbClr val="1A1A2E"/>
                </a:solidFill>
                <a:latin typeface="Calibri" pitchFamily="34" charset="0"/>
                <a:ea typeface="Calibri" pitchFamily="34" charset="-122"/>
                <a:cs typeface="Calibri" pitchFamily="34" charset="-120"/>
              </a:rPr>
              <a:t>Een Vimexx-VPS kán technisch, maar vraagt dan zelf serverbeheer (updates, beveiliging, deployment) — precies de tijd die je niet aan infrastructuur wilt besteden voor een MVP.</a:t>
            </a:r>
            <a:endParaRPr lang="en-US" sz="1250" dirty="0"/>
          </a:p>
        </p:txBody>
      </p:sp>
      <p:sp>
        <p:nvSpPr>
          <p:cNvPr id="11" name="Shape 7"/>
          <p:cNvSpPr/>
          <p:nvPr/>
        </p:nvSpPr>
        <p:spPr>
          <a:xfrm>
            <a:off x="6080760" y="1965960"/>
            <a:ext cx="5440680" cy="3977640"/>
          </a:xfrm>
          <a:prstGeom prst="roundRect">
            <a:avLst>
              <a:gd name="adj" fmla="val 2069"/>
            </a:avLst>
          </a:prstGeom>
          <a:solidFill>
            <a:srgbClr val="E7F5EC"/>
          </a:solidFill>
          <a:ln/>
        </p:spPr>
      </p:sp>
      <p:pic>
        <p:nvPicPr>
          <p:cNvPr id="12" name="Image 2" descr="preencoded.png"/>
          <p:cNvPicPr>
            <a:picLocks noChangeAspect="1"/>
          </p:cNvPicPr>
          <p:nvPr/>
        </p:nvPicPr>
        <p:blipFill>
          <a:blip r:embed="rId5"/>
          <a:stretch>
            <a:fillRect/>
          </a:stretch>
        </p:blipFill>
        <p:spPr>
          <a:xfrm>
            <a:off x="6355080" y="2240280"/>
            <a:ext cx="310896" cy="310896"/>
          </a:xfrm>
          <a:prstGeom prst="rect">
            <a:avLst/>
          </a:prstGeom>
        </p:spPr>
      </p:pic>
      <p:sp>
        <p:nvSpPr>
          <p:cNvPr id="13" name="Text 8"/>
          <p:cNvSpPr txBox="1"/>
          <p:nvPr/>
        </p:nvSpPr>
        <p:spPr>
          <a:xfrm>
            <a:off x="6793992" y="2212848"/>
            <a:ext cx="4526280" cy="365760"/>
          </a:xfrm>
          <a:prstGeom prst="rect">
            <a:avLst/>
          </a:prstGeom>
          <a:noFill/>
          <a:ln/>
        </p:spPr>
        <p:txBody>
          <a:bodyPr wrap="square" lIns="0" tIns="0" rIns="0" bIns="0" rtlCol="0" anchor="ctr"/>
          <a:lstStyle/>
          <a:p>
            <a:pPr marL="0" indent="0">
              <a:buNone/>
            </a:pPr>
            <a:r>
              <a:rPr lang="en-US" sz="1500" b="1" dirty="0">
                <a:solidFill>
                  <a:srgbClr val="1E7A4C"/>
                </a:solidFill>
                <a:latin typeface="Calibri" pitchFamily="34" charset="0"/>
                <a:ea typeface="Calibri" pitchFamily="34" charset="-122"/>
                <a:cs typeface="Calibri" pitchFamily="34" charset="-120"/>
              </a:rPr>
              <a:t>Aanbevolen combinatie</a:t>
            </a:r>
            <a:endParaRPr lang="en-US" sz="1500" dirty="0"/>
          </a:p>
        </p:txBody>
      </p:sp>
      <p:pic>
        <p:nvPicPr>
          <p:cNvPr id="14" name="Image 3" descr="preencoded.png"/>
          <p:cNvPicPr>
            <a:picLocks noChangeAspect="1"/>
          </p:cNvPicPr>
          <p:nvPr/>
        </p:nvPicPr>
        <p:blipFill>
          <a:blip r:embed="rId6"/>
          <a:stretch>
            <a:fillRect/>
          </a:stretch>
        </p:blipFill>
        <p:spPr>
          <a:xfrm>
            <a:off x="6373368" y="2798064"/>
            <a:ext cx="219456" cy="219456"/>
          </a:xfrm>
          <a:prstGeom prst="rect">
            <a:avLst/>
          </a:prstGeom>
        </p:spPr>
      </p:pic>
      <p:sp>
        <p:nvSpPr>
          <p:cNvPr id="15" name="Text 9"/>
          <p:cNvSpPr txBox="1"/>
          <p:nvPr/>
        </p:nvSpPr>
        <p:spPr>
          <a:xfrm>
            <a:off x="6702552" y="2715768"/>
            <a:ext cx="4526280" cy="274320"/>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App-hosting</a:t>
            </a:r>
            <a:endParaRPr lang="en-US" sz="1250" dirty="0"/>
          </a:p>
        </p:txBody>
      </p:sp>
      <p:sp>
        <p:nvSpPr>
          <p:cNvPr id="16" name="Text 10"/>
          <p:cNvSpPr txBox="1"/>
          <p:nvPr/>
        </p:nvSpPr>
        <p:spPr>
          <a:xfrm>
            <a:off x="6702552" y="2990088"/>
            <a:ext cx="4526280" cy="320040"/>
          </a:xfrm>
          <a:prstGeom prst="rect">
            <a:avLst/>
          </a:prstGeom>
          <a:noFill/>
          <a:ln/>
        </p:spPr>
        <p:txBody>
          <a:bodyPr wrap="square" lIns="0" tIns="0" rIns="0" bIns="0" rtlCol="0" anchor="ctr"/>
          <a:lstStyle/>
          <a:p>
            <a:pPr marL="0" indent="0">
              <a:buNone/>
            </a:pPr>
            <a:r>
              <a:rPr lang="en-US" sz="1100" dirty="0">
                <a:solidFill>
                  <a:srgbClr val="6B6B7D"/>
                </a:solidFill>
                <a:latin typeface="Calibri" pitchFamily="34" charset="0"/>
                <a:ea typeface="Calibri" pitchFamily="34" charset="-122"/>
                <a:cs typeface="Calibri" pitchFamily="34" charset="-120"/>
              </a:rPr>
              <a:t>Vercel — gratis tier, gemaakt vóór Next.js, geen serverbeheer</a:t>
            </a:r>
            <a:endParaRPr lang="en-US" sz="1100" dirty="0"/>
          </a:p>
        </p:txBody>
      </p:sp>
      <p:pic>
        <p:nvPicPr>
          <p:cNvPr id="17" name="Image 4" descr="preencoded.png"/>
          <p:cNvPicPr>
            <a:picLocks noChangeAspect="1"/>
          </p:cNvPicPr>
          <p:nvPr/>
        </p:nvPicPr>
        <p:blipFill>
          <a:blip r:embed="rId7"/>
          <a:stretch>
            <a:fillRect/>
          </a:stretch>
        </p:blipFill>
        <p:spPr>
          <a:xfrm>
            <a:off x="6373368" y="3557016"/>
            <a:ext cx="219456" cy="219456"/>
          </a:xfrm>
          <a:prstGeom prst="rect">
            <a:avLst/>
          </a:prstGeom>
        </p:spPr>
      </p:pic>
      <p:sp>
        <p:nvSpPr>
          <p:cNvPr id="18" name="Text 11"/>
          <p:cNvSpPr txBox="1"/>
          <p:nvPr/>
        </p:nvSpPr>
        <p:spPr>
          <a:xfrm>
            <a:off x="6702552" y="3474720"/>
            <a:ext cx="4526280" cy="274320"/>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Database</a:t>
            </a:r>
            <a:endParaRPr lang="en-US" sz="1250" dirty="0"/>
          </a:p>
        </p:txBody>
      </p:sp>
      <p:sp>
        <p:nvSpPr>
          <p:cNvPr id="19" name="Text 12"/>
          <p:cNvSpPr txBox="1"/>
          <p:nvPr/>
        </p:nvSpPr>
        <p:spPr>
          <a:xfrm>
            <a:off x="6702552" y="3749040"/>
            <a:ext cx="4526280" cy="320040"/>
          </a:xfrm>
          <a:prstGeom prst="rect">
            <a:avLst/>
          </a:prstGeom>
          <a:noFill/>
          <a:ln/>
        </p:spPr>
        <p:txBody>
          <a:bodyPr wrap="square" lIns="0" tIns="0" rIns="0" bIns="0" rtlCol="0" anchor="ctr"/>
          <a:lstStyle/>
          <a:p>
            <a:pPr marL="0" indent="0">
              <a:buNone/>
            </a:pPr>
            <a:r>
              <a:rPr lang="en-US" sz="1100" dirty="0">
                <a:solidFill>
                  <a:srgbClr val="6B6B7D"/>
                </a:solidFill>
                <a:latin typeface="Calibri" pitchFamily="34" charset="0"/>
                <a:ea typeface="Calibri" pitchFamily="34" charset="-122"/>
                <a:cs typeface="Calibri" pitchFamily="34" charset="-120"/>
              </a:rPr>
              <a:t>Supabase — gratis tier, ingebouwde auth</a:t>
            </a:r>
            <a:endParaRPr lang="en-US" sz="1100" dirty="0"/>
          </a:p>
        </p:txBody>
      </p:sp>
      <p:pic>
        <p:nvPicPr>
          <p:cNvPr id="20" name="Image 5" descr="preencoded.png"/>
          <p:cNvPicPr>
            <a:picLocks noChangeAspect="1"/>
          </p:cNvPicPr>
          <p:nvPr/>
        </p:nvPicPr>
        <p:blipFill>
          <a:blip r:embed="rId8"/>
          <a:stretch>
            <a:fillRect/>
          </a:stretch>
        </p:blipFill>
        <p:spPr>
          <a:xfrm>
            <a:off x="6373368" y="4315968"/>
            <a:ext cx="219456" cy="219456"/>
          </a:xfrm>
          <a:prstGeom prst="rect">
            <a:avLst/>
          </a:prstGeom>
        </p:spPr>
      </p:pic>
      <p:sp>
        <p:nvSpPr>
          <p:cNvPr id="21" name="Text 13"/>
          <p:cNvSpPr txBox="1"/>
          <p:nvPr/>
        </p:nvSpPr>
        <p:spPr>
          <a:xfrm>
            <a:off x="6702552" y="4233672"/>
            <a:ext cx="4526280" cy="274320"/>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Domeinnaam</a:t>
            </a:r>
            <a:endParaRPr lang="en-US" sz="1250" dirty="0"/>
          </a:p>
        </p:txBody>
      </p:sp>
      <p:sp>
        <p:nvSpPr>
          <p:cNvPr id="22" name="Text 14"/>
          <p:cNvSpPr txBox="1"/>
          <p:nvPr/>
        </p:nvSpPr>
        <p:spPr>
          <a:xfrm>
            <a:off x="6702552" y="4507992"/>
            <a:ext cx="4526280" cy="320040"/>
          </a:xfrm>
          <a:prstGeom prst="rect">
            <a:avLst/>
          </a:prstGeom>
          <a:noFill/>
          <a:ln/>
        </p:spPr>
        <p:txBody>
          <a:bodyPr wrap="square" lIns="0" tIns="0" rIns="0" bIns="0" rtlCol="0" anchor="ctr"/>
          <a:lstStyle/>
          <a:p>
            <a:pPr marL="0" indent="0">
              <a:buNone/>
            </a:pPr>
            <a:r>
              <a:rPr lang="en-US" sz="1100" dirty="0">
                <a:solidFill>
                  <a:srgbClr val="6B6B7D"/>
                </a:solidFill>
                <a:latin typeface="Calibri" pitchFamily="34" charset="0"/>
                <a:ea typeface="Calibri" pitchFamily="34" charset="-122"/>
                <a:cs typeface="Calibri" pitchFamily="34" charset="-120"/>
              </a:rPr>
              <a:t>Vimexx (of TransIP) — scherp geprijsd, DNS naar Vercel wijzen</a:t>
            </a:r>
            <a:endParaRPr lang="en-US" sz="1100" dirty="0"/>
          </a:p>
        </p:txBody>
      </p:sp>
      <p:pic>
        <p:nvPicPr>
          <p:cNvPr id="23" name="Image 6" descr="preencoded.png"/>
          <p:cNvPicPr>
            <a:picLocks noChangeAspect="1"/>
          </p:cNvPicPr>
          <p:nvPr/>
        </p:nvPicPr>
        <p:blipFill>
          <a:blip r:embed="rId9"/>
          <a:stretch>
            <a:fillRect/>
          </a:stretch>
        </p:blipFill>
        <p:spPr>
          <a:xfrm>
            <a:off x="6373368" y="5074920"/>
            <a:ext cx="219456" cy="219456"/>
          </a:xfrm>
          <a:prstGeom prst="rect">
            <a:avLst/>
          </a:prstGeom>
        </p:spPr>
      </p:pic>
      <p:sp>
        <p:nvSpPr>
          <p:cNvPr id="24" name="Text 15"/>
          <p:cNvSpPr txBox="1"/>
          <p:nvPr/>
        </p:nvSpPr>
        <p:spPr>
          <a:xfrm>
            <a:off x="6702552" y="4992624"/>
            <a:ext cx="4526280" cy="274320"/>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Zakelijke e-mail</a:t>
            </a:r>
            <a:endParaRPr lang="en-US" sz="1250" dirty="0"/>
          </a:p>
        </p:txBody>
      </p:sp>
      <p:sp>
        <p:nvSpPr>
          <p:cNvPr id="25" name="Text 16"/>
          <p:cNvSpPr txBox="1"/>
          <p:nvPr/>
        </p:nvSpPr>
        <p:spPr>
          <a:xfrm>
            <a:off x="6702552" y="5266944"/>
            <a:ext cx="4526280" cy="320040"/>
          </a:xfrm>
          <a:prstGeom prst="rect">
            <a:avLst/>
          </a:prstGeom>
          <a:noFill/>
          <a:ln/>
        </p:spPr>
        <p:txBody>
          <a:bodyPr wrap="square" lIns="0" tIns="0" rIns="0" bIns="0" rtlCol="0" anchor="ctr"/>
          <a:lstStyle/>
          <a:p>
            <a:pPr marL="0" indent="0">
              <a:buNone/>
            </a:pPr>
            <a:r>
              <a:rPr lang="en-US" sz="1100" dirty="0">
                <a:solidFill>
                  <a:srgbClr val="6B6B7D"/>
                </a:solidFill>
                <a:latin typeface="Calibri" pitchFamily="34" charset="0"/>
                <a:ea typeface="Calibri" pitchFamily="34" charset="-122"/>
                <a:cs typeface="Calibri" pitchFamily="34" charset="-120"/>
              </a:rPr>
              <a:t>Vimexx e-mailhosting, los van webhosting</a:t>
            </a:r>
            <a:endParaRPr lang="en-US" sz="1100" dirty="0"/>
          </a:p>
        </p:txBody>
      </p:sp>
      <p:sp>
        <p:nvSpPr>
          <p:cNvPr id="26" name="Text 17"/>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Hosting</a:t>
            </a:r>
            <a:endParaRPr lang="en-US" sz="1000" dirty="0"/>
          </a:p>
        </p:txBody>
      </p:sp>
      <p:sp>
        <p:nvSpPr>
          <p:cNvPr id="27" name="Text 18"/>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ONDERNEMING</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Onderneming &amp; aansprakelijkheid</a:t>
            </a:r>
            <a:endParaRPr lang="en-US" sz="2600" dirty="0"/>
          </a:p>
        </p:txBody>
      </p:sp>
      <p:sp>
        <p:nvSpPr>
          <p:cNvPr id="6" name="Text 3"/>
          <p:cNvSpPr txBox="1"/>
          <p:nvPr/>
        </p:nvSpPr>
        <p:spPr>
          <a:xfrm>
            <a:off x="640080" y="1371600"/>
            <a:ext cx="10881360" cy="411480"/>
          </a:xfrm>
          <a:prstGeom prst="rect">
            <a:avLst/>
          </a:prstGeom>
          <a:noFill/>
          <a:ln/>
        </p:spPr>
        <p:txBody>
          <a:bodyPr wrap="square" lIns="0" tIns="0" rIns="0" bIns="0" rtlCol="0" anchor="ctr"/>
          <a:lstStyle/>
          <a:p>
            <a:pPr marL="0" indent="0">
              <a:buNone/>
            </a:pPr>
            <a:r>
              <a:rPr lang="en-US" sz="1350" i="1" dirty="0">
                <a:solidFill>
                  <a:srgbClr val="6B6B7D"/>
                </a:solidFill>
                <a:latin typeface="Calibri" pitchFamily="34" charset="0"/>
                <a:ea typeface="Calibri" pitchFamily="34" charset="-122"/>
                <a:cs typeface="Calibri" pitchFamily="34" charset="-120"/>
              </a:rPr>
              <a:t>Ja: zodra je structureel een betaald product aanbiedt via internet, is KVK-inschrijving verplicht — ook naast je vaste baan.</a:t>
            </a:r>
            <a:endParaRPr lang="en-US" sz="1350" dirty="0"/>
          </a:p>
        </p:txBody>
      </p:sp>
      <p:sp>
        <p:nvSpPr>
          <p:cNvPr id="7" name="Shape 4"/>
          <p:cNvSpPr/>
          <p:nvPr/>
        </p:nvSpPr>
        <p:spPr>
          <a:xfrm>
            <a:off x="640080" y="1920240"/>
            <a:ext cx="5349240" cy="1965960"/>
          </a:xfrm>
          <a:prstGeom prst="roundRect">
            <a:avLst>
              <a:gd name="adj" fmla="val 418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8" name="Shape 5"/>
          <p:cNvSpPr/>
          <p:nvPr/>
        </p:nvSpPr>
        <p:spPr>
          <a:xfrm>
            <a:off x="877824" y="2157984"/>
            <a:ext cx="502920" cy="502920"/>
          </a:xfrm>
          <a:prstGeom prst="ellipse">
            <a:avLst/>
          </a:prstGeom>
          <a:solidFill>
            <a:srgbClr val="EFEAFB"/>
          </a:solidFill>
          <a:ln/>
        </p:spPr>
      </p:sp>
      <p:pic>
        <p:nvPicPr>
          <p:cNvPr id="9" name="Image 1" descr="preencoded.png"/>
          <p:cNvPicPr>
            <a:picLocks noChangeAspect="1"/>
          </p:cNvPicPr>
          <p:nvPr/>
        </p:nvPicPr>
        <p:blipFill>
          <a:blip r:embed="rId4"/>
          <a:stretch>
            <a:fillRect/>
          </a:stretch>
        </p:blipFill>
        <p:spPr>
          <a:xfrm>
            <a:off x="1008583" y="2288743"/>
            <a:ext cx="241402" cy="241402"/>
          </a:xfrm>
          <a:prstGeom prst="rect">
            <a:avLst/>
          </a:prstGeom>
        </p:spPr>
      </p:pic>
      <p:sp>
        <p:nvSpPr>
          <p:cNvPr id="10" name="Text 6"/>
          <p:cNvSpPr txBox="1"/>
          <p:nvPr/>
        </p:nvSpPr>
        <p:spPr>
          <a:xfrm>
            <a:off x="1554480" y="2176272"/>
            <a:ext cx="4206240" cy="36576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Rechtsvorm: eenmanszaak</a:t>
            </a:r>
            <a:endParaRPr lang="en-US" sz="1350" dirty="0"/>
          </a:p>
        </p:txBody>
      </p:sp>
      <p:sp>
        <p:nvSpPr>
          <p:cNvPr id="11" name="Text 7"/>
          <p:cNvSpPr txBox="1"/>
          <p:nvPr/>
        </p:nvSpPr>
        <p:spPr>
          <a:xfrm>
            <a:off x="896112" y="2816352"/>
            <a:ext cx="4837176" cy="960120"/>
          </a:xfrm>
          <a:prstGeom prst="rect">
            <a:avLst/>
          </a:prstGeom>
          <a:noFill/>
          <a:ln/>
        </p:spPr>
        <p:txBody>
          <a:bodyPr wrap="square" lIns="0" tIns="0" rIns="0" bIns="0" rtlCol="0" anchor="ctr"/>
          <a:lstStyle/>
          <a:p>
            <a:pPr marL="0" indent="0">
              <a:lnSpc>
                <a:spcPct val="115000"/>
              </a:lnSpc>
              <a:buNone/>
            </a:pPr>
            <a:r>
              <a:rPr lang="en-US" sz="1150" dirty="0">
                <a:solidFill>
                  <a:srgbClr val="6B6B7D"/>
                </a:solidFill>
                <a:latin typeface="Calibri" pitchFamily="34" charset="0"/>
                <a:ea typeface="Calibri" pitchFamily="34" charset="-122"/>
                <a:cs typeface="Calibri" pitchFamily="34" charset="-120"/>
              </a:rPr>
              <a:t>Geen startkapitaal, één afspraak, €85,15 (2026-tarief) — bedrijfsnaam wordt in dezelfde afspraak geregistreerd.</a:t>
            </a:r>
            <a:endParaRPr lang="en-US" sz="1150" dirty="0"/>
          </a:p>
        </p:txBody>
      </p:sp>
      <p:sp>
        <p:nvSpPr>
          <p:cNvPr id="12" name="Shape 8"/>
          <p:cNvSpPr/>
          <p:nvPr/>
        </p:nvSpPr>
        <p:spPr>
          <a:xfrm>
            <a:off x="6172200" y="1920240"/>
            <a:ext cx="5349240" cy="1965960"/>
          </a:xfrm>
          <a:prstGeom prst="roundRect">
            <a:avLst>
              <a:gd name="adj" fmla="val 418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3" name="Shape 9"/>
          <p:cNvSpPr/>
          <p:nvPr/>
        </p:nvSpPr>
        <p:spPr>
          <a:xfrm>
            <a:off x="6409944" y="2157984"/>
            <a:ext cx="502920" cy="502920"/>
          </a:xfrm>
          <a:prstGeom prst="ellipse">
            <a:avLst/>
          </a:prstGeom>
          <a:solidFill>
            <a:srgbClr val="EFEAFB"/>
          </a:solidFill>
          <a:ln/>
        </p:spPr>
      </p:sp>
      <p:pic>
        <p:nvPicPr>
          <p:cNvPr id="14" name="Image 2" descr="preencoded.png"/>
          <p:cNvPicPr>
            <a:picLocks noChangeAspect="1"/>
          </p:cNvPicPr>
          <p:nvPr/>
        </p:nvPicPr>
        <p:blipFill>
          <a:blip r:embed="rId5"/>
          <a:stretch>
            <a:fillRect/>
          </a:stretch>
        </p:blipFill>
        <p:spPr>
          <a:xfrm>
            <a:off x="6540703" y="2288743"/>
            <a:ext cx="241402" cy="241402"/>
          </a:xfrm>
          <a:prstGeom prst="rect">
            <a:avLst/>
          </a:prstGeom>
        </p:spPr>
      </p:pic>
      <p:sp>
        <p:nvSpPr>
          <p:cNvPr id="15" name="Text 10"/>
          <p:cNvSpPr txBox="1"/>
          <p:nvPr/>
        </p:nvSpPr>
        <p:spPr>
          <a:xfrm>
            <a:off x="7086600" y="2176272"/>
            <a:ext cx="4206240" cy="36576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Belangrijke nuance</a:t>
            </a:r>
            <a:endParaRPr lang="en-US" sz="1350" dirty="0"/>
          </a:p>
        </p:txBody>
      </p:sp>
      <p:sp>
        <p:nvSpPr>
          <p:cNvPr id="16" name="Text 11"/>
          <p:cNvSpPr txBox="1"/>
          <p:nvPr/>
        </p:nvSpPr>
        <p:spPr>
          <a:xfrm>
            <a:off x="6428232" y="2816352"/>
            <a:ext cx="4837176" cy="960120"/>
          </a:xfrm>
          <a:prstGeom prst="rect">
            <a:avLst/>
          </a:prstGeom>
          <a:noFill/>
          <a:ln/>
        </p:spPr>
        <p:txBody>
          <a:bodyPr wrap="square" lIns="0" tIns="0" rIns="0" bIns="0" rtlCol="0" anchor="ctr"/>
          <a:lstStyle/>
          <a:p>
            <a:pPr marL="0" indent="0">
              <a:lnSpc>
                <a:spcPct val="115000"/>
              </a:lnSpc>
              <a:buNone/>
            </a:pPr>
            <a:r>
              <a:rPr lang="en-US" sz="1150" dirty="0">
                <a:solidFill>
                  <a:srgbClr val="6B6B7D"/>
                </a:solidFill>
                <a:latin typeface="Calibri" pitchFamily="34" charset="0"/>
                <a:ea typeface="Calibri" pitchFamily="34" charset="-122"/>
                <a:cs typeface="Calibri" pitchFamily="34" charset="-120"/>
              </a:rPr>
              <a:t>Bij een eenmanszaak ben je privé aansprakelijk — geen scheiding privé/zakelijk vermogen. Bij kleine bedragen en duidelijke disclaimers beperkt risico, niet nul.</a:t>
            </a:r>
            <a:endParaRPr lang="en-US" sz="1150" dirty="0"/>
          </a:p>
        </p:txBody>
      </p:sp>
      <p:sp>
        <p:nvSpPr>
          <p:cNvPr id="17" name="Shape 12"/>
          <p:cNvSpPr/>
          <p:nvPr/>
        </p:nvSpPr>
        <p:spPr>
          <a:xfrm>
            <a:off x="640080" y="4069080"/>
            <a:ext cx="5349240" cy="1965960"/>
          </a:xfrm>
          <a:prstGeom prst="roundRect">
            <a:avLst>
              <a:gd name="adj" fmla="val 418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18" name="Shape 13"/>
          <p:cNvSpPr/>
          <p:nvPr/>
        </p:nvSpPr>
        <p:spPr>
          <a:xfrm>
            <a:off x="877824" y="4306824"/>
            <a:ext cx="502920" cy="502920"/>
          </a:xfrm>
          <a:prstGeom prst="ellipse">
            <a:avLst/>
          </a:prstGeom>
          <a:solidFill>
            <a:srgbClr val="EFEAFB"/>
          </a:solidFill>
          <a:ln/>
        </p:spPr>
      </p:sp>
      <p:pic>
        <p:nvPicPr>
          <p:cNvPr id="19" name="Image 3" descr="preencoded.png"/>
          <p:cNvPicPr>
            <a:picLocks noChangeAspect="1"/>
          </p:cNvPicPr>
          <p:nvPr/>
        </p:nvPicPr>
        <p:blipFill>
          <a:blip r:embed="rId6"/>
          <a:stretch>
            <a:fillRect/>
          </a:stretch>
        </p:blipFill>
        <p:spPr>
          <a:xfrm>
            <a:off x="1008583" y="4437583"/>
            <a:ext cx="241402" cy="241402"/>
          </a:xfrm>
          <a:prstGeom prst="rect">
            <a:avLst/>
          </a:prstGeom>
        </p:spPr>
      </p:pic>
      <p:sp>
        <p:nvSpPr>
          <p:cNvPr id="20" name="Text 14"/>
          <p:cNvSpPr txBox="1"/>
          <p:nvPr/>
        </p:nvSpPr>
        <p:spPr>
          <a:xfrm>
            <a:off x="1554480" y="4325112"/>
            <a:ext cx="4206240" cy="36576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Meld dit bij Arcona Capital</a:t>
            </a:r>
            <a:endParaRPr lang="en-US" sz="1350" dirty="0"/>
          </a:p>
        </p:txBody>
      </p:sp>
      <p:sp>
        <p:nvSpPr>
          <p:cNvPr id="21" name="Text 15"/>
          <p:cNvSpPr txBox="1"/>
          <p:nvPr/>
        </p:nvSpPr>
        <p:spPr>
          <a:xfrm>
            <a:off x="896112" y="4965192"/>
            <a:ext cx="4837176" cy="960120"/>
          </a:xfrm>
          <a:prstGeom prst="rect">
            <a:avLst/>
          </a:prstGeom>
          <a:noFill/>
          <a:ln/>
        </p:spPr>
        <p:txBody>
          <a:bodyPr wrap="square" lIns="0" tIns="0" rIns="0" bIns="0" rtlCol="0" anchor="ctr"/>
          <a:lstStyle/>
          <a:p>
            <a:pPr marL="0" indent="0">
              <a:lnSpc>
                <a:spcPct val="115000"/>
              </a:lnSpc>
              <a:buNone/>
            </a:pPr>
            <a:r>
              <a:rPr lang="en-US" sz="1150" dirty="0">
                <a:solidFill>
                  <a:srgbClr val="6B6B7D"/>
                </a:solidFill>
                <a:latin typeface="Calibri" pitchFamily="34" charset="0"/>
                <a:ea typeface="Calibri" pitchFamily="34" charset="-122"/>
                <a:cs typeface="Calibri" pitchFamily="34" charset="-120"/>
              </a:rPr>
              <a:t>Financiële sector kent vaak een nevenwerkzaamhedenbeding. Controleer je contract en meld WINDOW vóór livegang — hoort in week 1.</a:t>
            </a:r>
            <a:endParaRPr lang="en-US" sz="1150" dirty="0"/>
          </a:p>
        </p:txBody>
      </p:sp>
      <p:sp>
        <p:nvSpPr>
          <p:cNvPr id="22" name="Shape 16"/>
          <p:cNvSpPr/>
          <p:nvPr/>
        </p:nvSpPr>
        <p:spPr>
          <a:xfrm>
            <a:off x="6172200" y="4069080"/>
            <a:ext cx="5349240" cy="1965960"/>
          </a:xfrm>
          <a:prstGeom prst="roundRect">
            <a:avLst>
              <a:gd name="adj" fmla="val 4186"/>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23" name="Shape 17"/>
          <p:cNvSpPr/>
          <p:nvPr/>
        </p:nvSpPr>
        <p:spPr>
          <a:xfrm>
            <a:off x="6409944" y="4306824"/>
            <a:ext cx="502920" cy="502920"/>
          </a:xfrm>
          <a:prstGeom prst="ellipse">
            <a:avLst/>
          </a:prstGeom>
          <a:solidFill>
            <a:srgbClr val="EFEAFB"/>
          </a:solidFill>
          <a:ln/>
        </p:spPr>
      </p:sp>
      <p:pic>
        <p:nvPicPr>
          <p:cNvPr id="24" name="Image 4" descr="preencoded.png"/>
          <p:cNvPicPr>
            <a:picLocks noChangeAspect="1"/>
          </p:cNvPicPr>
          <p:nvPr/>
        </p:nvPicPr>
        <p:blipFill>
          <a:blip r:embed="rId7"/>
          <a:stretch>
            <a:fillRect/>
          </a:stretch>
        </p:blipFill>
        <p:spPr>
          <a:xfrm>
            <a:off x="6540703" y="4437583"/>
            <a:ext cx="241402" cy="241402"/>
          </a:xfrm>
          <a:prstGeom prst="rect">
            <a:avLst/>
          </a:prstGeom>
        </p:spPr>
      </p:pic>
      <p:sp>
        <p:nvSpPr>
          <p:cNvPr id="25" name="Text 18"/>
          <p:cNvSpPr txBox="1"/>
          <p:nvPr/>
        </p:nvSpPr>
        <p:spPr>
          <a:xfrm>
            <a:off x="7086600" y="4325112"/>
            <a:ext cx="4206240" cy="36576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Belasting &amp; btw</a:t>
            </a:r>
            <a:endParaRPr lang="en-US" sz="1350" dirty="0"/>
          </a:p>
        </p:txBody>
      </p:sp>
      <p:sp>
        <p:nvSpPr>
          <p:cNvPr id="26" name="Text 19"/>
          <p:cNvSpPr txBox="1"/>
          <p:nvPr/>
        </p:nvSpPr>
        <p:spPr>
          <a:xfrm>
            <a:off x="6428232" y="4965192"/>
            <a:ext cx="4837176" cy="960120"/>
          </a:xfrm>
          <a:prstGeom prst="rect">
            <a:avLst/>
          </a:prstGeom>
          <a:noFill/>
          <a:ln/>
        </p:spPr>
        <p:txBody>
          <a:bodyPr wrap="square" lIns="0" tIns="0" rIns="0" bIns="0" rtlCol="0" anchor="ctr"/>
          <a:lstStyle/>
          <a:p>
            <a:pPr marL="0" indent="0">
              <a:lnSpc>
                <a:spcPct val="115000"/>
              </a:lnSpc>
              <a:buNone/>
            </a:pPr>
            <a:r>
              <a:rPr lang="en-US" sz="1150" dirty="0">
                <a:solidFill>
                  <a:srgbClr val="6B6B7D"/>
                </a:solidFill>
                <a:latin typeface="Calibri" pitchFamily="34" charset="0"/>
                <a:ea typeface="Calibri" pitchFamily="34" charset="-122"/>
                <a:cs typeface="Calibri" pitchFamily="34" charset="-120"/>
              </a:rPr>
              <a:t>Automatische registratie bij de Belastingdienst. Overweeg de KOR (vrijstelling tot €20.000 omzet/jaar) om de administratie te vereenvoudigen.</a:t>
            </a:r>
            <a:endParaRPr lang="en-US" sz="1150" dirty="0"/>
          </a:p>
        </p:txBody>
      </p:sp>
      <p:sp>
        <p:nvSpPr>
          <p:cNvPr id="27" name="Text 20"/>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Onderneming &amp; aansprakelijkheid</a:t>
            </a:r>
            <a:endParaRPr lang="en-US" sz="1000" dirty="0"/>
          </a:p>
        </p:txBody>
      </p:sp>
      <p:sp>
        <p:nvSpPr>
          <p:cNvPr id="28" name="Text 21"/>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PRIVACY</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AVG — praktische ondergrens vóór livegang</a:t>
            </a:r>
            <a:endParaRPr lang="en-US" sz="2600" dirty="0"/>
          </a:p>
        </p:txBody>
      </p:sp>
      <p:sp>
        <p:nvSpPr>
          <p:cNvPr id="6" name="Shape 3"/>
          <p:cNvSpPr/>
          <p:nvPr/>
        </p:nvSpPr>
        <p:spPr>
          <a:xfrm>
            <a:off x="640080" y="1554480"/>
            <a:ext cx="5349240" cy="603504"/>
          </a:xfrm>
          <a:prstGeom prst="roundRect">
            <a:avLst>
              <a:gd name="adj" fmla="val 13636"/>
            </a:avLst>
          </a:prstGeom>
          <a:solidFill>
            <a:srgbClr val="FFFFFF"/>
          </a:solidFill>
          <a:ln w="12700">
            <a:solidFill>
              <a:srgbClr val="E1DCF2"/>
            </a:solidFill>
            <a:prstDash val="solid"/>
          </a:ln>
        </p:spPr>
      </p:sp>
      <p:pic>
        <p:nvPicPr>
          <p:cNvPr id="7" name="Image 1" descr="preencoded.png"/>
          <p:cNvPicPr>
            <a:picLocks noChangeAspect="1"/>
          </p:cNvPicPr>
          <p:nvPr/>
        </p:nvPicPr>
        <p:blipFill>
          <a:blip r:embed="rId4"/>
          <a:stretch>
            <a:fillRect/>
          </a:stretch>
        </p:blipFill>
        <p:spPr>
          <a:xfrm>
            <a:off x="804672" y="1728216"/>
            <a:ext cx="256032" cy="256032"/>
          </a:xfrm>
          <a:prstGeom prst="rect">
            <a:avLst/>
          </a:prstGeom>
        </p:spPr>
      </p:pic>
      <p:sp>
        <p:nvSpPr>
          <p:cNvPr id="8" name="Text 4"/>
          <p:cNvSpPr txBox="1"/>
          <p:nvPr/>
        </p:nvSpPr>
        <p:spPr>
          <a:xfrm>
            <a:off x="1170432" y="1554480"/>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Heldere, beknopte privacyverklaring: wat, waarom, hoe lang, hoe verwijderen/exporteren</a:t>
            </a:r>
            <a:endParaRPr lang="en-US" sz="1150" dirty="0"/>
          </a:p>
        </p:txBody>
      </p:sp>
      <p:sp>
        <p:nvSpPr>
          <p:cNvPr id="9" name="Shape 5"/>
          <p:cNvSpPr/>
          <p:nvPr/>
        </p:nvSpPr>
        <p:spPr>
          <a:xfrm>
            <a:off x="6172200" y="1554480"/>
            <a:ext cx="5349240" cy="603504"/>
          </a:xfrm>
          <a:prstGeom prst="roundRect">
            <a:avLst>
              <a:gd name="adj" fmla="val 13636"/>
            </a:avLst>
          </a:prstGeom>
          <a:solidFill>
            <a:srgbClr val="FFFFFF"/>
          </a:solidFill>
          <a:ln w="12700">
            <a:solidFill>
              <a:srgbClr val="E1DCF2"/>
            </a:solidFill>
            <a:prstDash val="solid"/>
          </a:ln>
        </p:spPr>
      </p:sp>
      <p:pic>
        <p:nvPicPr>
          <p:cNvPr id="10" name="Image 2" descr="preencoded.png"/>
          <p:cNvPicPr>
            <a:picLocks noChangeAspect="1"/>
          </p:cNvPicPr>
          <p:nvPr/>
        </p:nvPicPr>
        <p:blipFill>
          <a:blip r:embed="rId4"/>
          <a:stretch>
            <a:fillRect/>
          </a:stretch>
        </p:blipFill>
        <p:spPr>
          <a:xfrm>
            <a:off x="6336792" y="1728216"/>
            <a:ext cx="256032" cy="256032"/>
          </a:xfrm>
          <a:prstGeom prst="rect">
            <a:avLst/>
          </a:prstGeom>
        </p:spPr>
      </p:pic>
      <p:sp>
        <p:nvSpPr>
          <p:cNvPr id="11" name="Text 6"/>
          <p:cNvSpPr txBox="1"/>
          <p:nvPr/>
        </p:nvSpPr>
        <p:spPr>
          <a:xfrm>
            <a:off x="6702552" y="1554480"/>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Cookiebanner / analytics-toestemming conform AVG, ook bij een kleine testgroep</a:t>
            </a:r>
            <a:endParaRPr lang="en-US" sz="1150" dirty="0"/>
          </a:p>
        </p:txBody>
      </p:sp>
      <p:sp>
        <p:nvSpPr>
          <p:cNvPr id="12" name="Shape 7"/>
          <p:cNvSpPr/>
          <p:nvPr/>
        </p:nvSpPr>
        <p:spPr>
          <a:xfrm>
            <a:off x="640080" y="2267712"/>
            <a:ext cx="5349240" cy="603504"/>
          </a:xfrm>
          <a:prstGeom prst="roundRect">
            <a:avLst>
              <a:gd name="adj" fmla="val 13636"/>
            </a:avLst>
          </a:prstGeom>
          <a:solidFill>
            <a:srgbClr val="FFFFFF"/>
          </a:solidFill>
          <a:ln w="12700">
            <a:solidFill>
              <a:srgbClr val="E1DCF2"/>
            </a:solidFill>
            <a:prstDash val="solid"/>
          </a:ln>
        </p:spPr>
      </p:sp>
      <p:pic>
        <p:nvPicPr>
          <p:cNvPr id="13" name="Image 3" descr="preencoded.png"/>
          <p:cNvPicPr>
            <a:picLocks noChangeAspect="1"/>
          </p:cNvPicPr>
          <p:nvPr/>
        </p:nvPicPr>
        <p:blipFill>
          <a:blip r:embed="rId4"/>
          <a:stretch>
            <a:fillRect/>
          </a:stretch>
        </p:blipFill>
        <p:spPr>
          <a:xfrm>
            <a:off x="804672" y="2441448"/>
            <a:ext cx="256032" cy="256032"/>
          </a:xfrm>
          <a:prstGeom prst="rect">
            <a:avLst/>
          </a:prstGeom>
        </p:spPr>
      </p:pic>
      <p:sp>
        <p:nvSpPr>
          <p:cNvPr id="14" name="Text 8"/>
          <p:cNvSpPr txBox="1"/>
          <p:nvPr/>
        </p:nvSpPr>
        <p:spPr>
          <a:xfrm>
            <a:off x="1170432" y="2267712"/>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Betaalgegevens nooit zelf opslaan — volledig via Stripe</a:t>
            </a:r>
            <a:endParaRPr lang="en-US" sz="1150" dirty="0"/>
          </a:p>
        </p:txBody>
      </p:sp>
      <p:sp>
        <p:nvSpPr>
          <p:cNvPr id="15" name="Shape 9"/>
          <p:cNvSpPr/>
          <p:nvPr/>
        </p:nvSpPr>
        <p:spPr>
          <a:xfrm>
            <a:off x="6172200" y="2267712"/>
            <a:ext cx="5349240" cy="603504"/>
          </a:xfrm>
          <a:prstGeom prst="roundRect">
            <a:avLst>
              <a:gd name="adj" fmla="val 13636"/>
            </a:avLst>
          </a:prstGeom>
          <a:solidFill>
            <a:srgbClr val="FFFFFF"/>
          </a:solidFill>
          <a:ln w="12700">
            <a:solidFill>
              <a:srgbClr val="E1DCF2"/>
            </a:solidFill>
            <a:prstDash val="solid"/>
          </a:ln>
        </p:spPr>
      </p:sp>
      <p:pic>
        <p:nvPicPr>
          <p:cNvPr id="16" name="Image 4" descr="preencoded.png"/>
          <p:cNvPicPr>
            <a:picLocks noChangeAspect="1"/>
          </p:cNvPicPr>
          <p:nvPr/>
        </p:nvPicPr>
        <p:blipFill>
          <a:blip r:embed="rId4"/>
          <a:stretch>
            <a:fillRect/>
          </a:stretch>
        </p:blipFill>
        <p:spPr>
          <a:xfrm>
            <a:off x="6336792" y="2441448"/>
            <a:ext cx="256032" cy="256032"/>
          </a:xfrm>
          <a:prstGeom prst="rect">
            <a:avLst/>
          </a:prstGeom>
        </p:spPr>
      </p:pic>
      <p:sp>
        <p:nvSpPr>
          <p:cNvPr id="17" name="Text 10"/>
          <p:cNvSpPr txBox="1"/>
          <p:nvPr/>
        </p:nvSpPr>
        <p:spPr>
          <a:xfrm>
            <a:off x="6702552" y="2267712"/>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Profielsignalen gekoppeld aan los gebruikers-ID, niet direct aan naam/e-mail</a:t>
            </a:r>
            <a:endParaRPr lang="en-US" sz="1150" dirty="0"/>
          </a:p>
        </p:txBody>
      </p:sp>
      <p:sp>
        <p:nvSpPr>
          <p:cNvPr id="18" name="Shape 11"/>
          <p:cNvSpPr/>
          <p:nvPr/>
        </p:nvSpPr>
        <p:spPr>
          <a:xfrm>
            <a:off x="640080" y="2980944"/>
            <a:ext cx="5349240" cy="603504"/>
          </a:xfrm>
          <a:prstGeom prst="roundRect">
            <a:avLst>
              <a:gd name="adj" fmla="val 13636"/>
            </a:avLst>
          </a:prstGeom>
          <a:solidFill>
            <a:srgbClr val="FFFFFF"/>
          </a:solidFill>
          <a:ln w="12700">
            <a:solidFill>
              <a:srgbClr val="E1DCF2"/>
            </a:solidFill>
            <a:prstDash val="solid"/>
          </a:ln>
        </p:spPr>
      </p:sp>
      <p:pic>
        <p:nvPicPr>
          <p:cNvPr id="19" name="Image 5" descr="preencoded.png"/>
          <p:cNvPicPr>
            <a:picLocks noChangeAspect="1"/>
          </p:cNvPicPr>
          <p:nvPr/>
        </p:nvPicPr>
        <p:blipFill>
          <a:blip r:embed="rId4"/>
          <a:stretch>
            <a:fillRect/>
          </a:stretch>
        </p:blipFill>
        <p:spPr>
          <a:xfrm>
            <a:off x="804672" y="3154680"/>
            <a:ext cx="256032" cy="256032"/>
          </a:xfrm>
          <a:prstGeom prst="rect">
            <a:avLst/>
          </a:prstGeom>
        </p:spPr>
      </p:pic>
      <p:sp>
        <p:nvSpPr>
          <p:cNvPr id="20" name="Text 12"/>
          <p:cNvSpPr txBox="1"/>
          <p:nvPr/>
        </p:nvSpPr>
        <p:spPr>
          <a:xfrm>
            <a:off x="1170432" y="2980944"/>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Vermeld expliciet: dienst niet bedoeld voor minderjarigen</a:t>
            </a:r>
            <a:endParaRPr lang="en-US" sz="1150" dirty="0"/>
          </a:p>
        </p:txBody>
      </p:sp>
      <p:sp>
        <p:nvSpPr>
          <p:cNvPr id="21" name="Shape 13"/>
          <p:cNvSpPr/>
          <p:nvPr/>
        </p:nvSpPr>
        <p:spPr>
          <a:xfrm>
            <a:off x="6172200" y="2980944"/>
            <a:ext cx="5349240" cy="603504"/>
          </a:xfrm>
          <a:prstGeom prst="roundRect">
            <a:avLst>
              <a:gd name="adj" fmla="val 13636"/>
            </a:avLst>
          </a:prstGeom>
          <a:solidFill>
            <a:srgbClr val="FFFFFF"/>
          </a:solidFill>
          <a:ln w="12700">
            <a:solidFill>
              <a:srgbClr val="E1DCF2"/>
            </a:solidFill>
            <a:prstDash val="solid"/>
          </a:ln>
        </p:spPr>
      </p:sp>
      <p:pic>
        <p:nvPicPr>
          <p:cNvPr id="22" name="Image 6" descr="preencoded.png"/>
          <p:cNvPicPr>
            <a:picLocks noChangeAspect="1"/>
          </p:cNvPicPr>
          <p:nvPr/>
        </p:nvPicPr>
        <p:blipFill>
          <a:blip r:embed="rId4"/>
          <a:stretch>
            <a:fillRect/>
          </a:stretch>
        </p:blipFill>
        <p:spPr>
          <a:xfrm>
            <a:off x="6336792" y="3154680"/>
            <a:ext cx="256032" cy="256032"/>
          </a:xfrm>
          <a:prstGeom prst="rect">
            <a:avLst/>
          </a:prstGeom>
        </p:spPr>
      </p:pic>
      <p:sp>
        <p:nvSpPr>
          <p:cNvPr id="23" name="Text 14"/>
          <p:cNvSpPr txBox="1"/>
          <p:nvPr/>
        </p:nvSpPr>
        <p:spPr>
          <a:xfrm>
            <a:off x="6702552" y="2980944"/>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Herroepingsrecht: expliciete bevestiging bij checkout vóór directe levering van het Window Plan</a:t>
            </a:r>
            <a:endParaRPr lang="en-US" sz="1150" dirty="0"/>
          </a:p>
        </p:txBody>
      </p:sp>
      <p:sp>
        <p:nvSpPr>
          <p:cNvPr id="24" name="Shape 15"/>
          <p:cNvSpPr/>
          <p:nvPr/>
        </p:nvSpPr>
        <p:spPr>
          <a:xfrm>
            <a:off x="640080" y="3694176"/>
            <a:ext cx="5349240" cy="603504"/>
          </a:xfrm>
          <a:prstGeom prst="roundRect">
            <a:avLst>
              <a:gd name="adj" fmla="val 13636"/>
            </a:avLst>
          </a:prstGeom>
          <a:solidFill>
            <a:srgbClr val="FFFFFF"/>
          </a:solidFill>
          <a:ln w="12700">
            <a:solidFill>
              <a:srgbClr val="E1DCF2"/>
            </a:solidFill>
            <a:prstDash val="solid"/>
          </a:ln>
        </p:spPr>
      </p:sp>
      <p:pic>
        <p:nvPicPr>
          <p:cNvPr id="25" name="Image 7" descr="preencoded.png"/>
          <p:cNvPicPr>
            <a:picLocks noChangeAspect="1"/>
          </p:cNvPicPr>
          <p:nvPr/>
        </p:nvPicPr>
        <p:blipFill>
          <a:blip r:embed="rId4"/>
          <a:stretch>
            <a:fillRect/>
          </a:stretch>
        </p:blipFill>
        <p:spPr>
          <a:xfrm>
            <a:off x="804672" y="3867912"/>
            <a:ext cx="256032" cy="256032"/>
          </a:xfrm>
          <a:prstGeom prst="rect">
            <a:avLst/>
          </a:prstGeom>
        </p:spPr>
      </p:pic>
      <p:sp>
        <p:nvSpPr>
          <p:cNvPr id="26" name="Text 16"/>
          <p:cNvSpPr txBox="1"/>
          <p:nvPr/>
        </p:nvSpPr>
        <p:spPr>
          <a:xfrm>
            <a:off x="1170432" y="3694176"/>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Disclaimer: geen medisch, therapeutisch, financieel of juridisch advies</a:t>
            </a:r>
            <a:endParaRPr lang="en-US" sz="1150" dirty="0"/>
          </a:p>
        </p:txBody>
      </p:sp>
      <p:sp>
        <p:nvSpPr>
          <p:cNvPr id="27" name="Shape 17"/>
          <p:cNvSpPr/>
          <p:nvPr/>
        </p:nvSpPr>
        <p:spPr>
          <a:xfrm>
            <a:off x="6172200" y="3694176"/>
            <a:ext cx="5349240" cy="603504"/>
          </a:xfrm>
          <a:prstGeom prst="roundRect">
            <a:avLst>
              <a:gd name="adj" fmla="val 13636"/>
            </a:avLst>
          </a:prstGeom>
          <a:solidFill>
            <a:srgbClr val="FFFFFF"/>
          </a:solidFill>
          <a:ln w="12700">
            <a:solidFill>
              <a:srgbClr val="E1DCF2"/>
            </a:solidFill>
            <a:prstDash val="solid"/>
          </a:ln>
        </p:spPr>
      </p:sp>
      <p:pic>
        <p:nvPicPr>
          <p:cNvPr id="28" name="Image 8" descr="preencoded.png"/>
          <p:cNvPicPr>
            <a:picLocks noChangeAspect="1"/>
          </p:cNvPicPr>
          <p:nvPr/>
        </p:nvPicPr>
        <p:blipFill>
          <a:blip r:embed="rId4"/>
          <a:stretch>
            <a:fillRect/>
          </a:stretch>
        </p:blipFill>
        <p:spPr>
          <a:xfrm>
            <a:off x="6336792" y="3867912"/>
            <a:ext cx="256032" cy="256032"/>
          </a:xfrm>
          <a:prstGeom prst="rect">
            <a:avLst/>
          </a:prstGeom>
        </p:spPr>
      </p:pic>
      <p:sp>
        <p:nvSpPr>
          <p:cNvPr id="29" name="Text 18"/>
          <p:cNvSpPr txBox="1"/>
          <p:nvPr/>
        </p:nvSpPr>
        <p:spPr>
          <a:xfrm>
            <a:off x="6702552" y="3694176"/>
            <a:ext cx="4617720" cy="603504"/>
          </a:xfrm>
          <a:prstGeom prst="rect">
            <a:avLst/>
          </a:prstGeom>
          <a:noFill/>
          <a:ln/>
        </p:spPr>
        <p:txBody>
          <a:bodyPr wrap="square" lIns="0" tIns="0" rIns="0" bIns="0" rtlCol="0" anchor="ctr"/>
          <a:lstStyle/>
          <a:p>
            <a:pPr marL="0" indent="0">
              <a:lnSpc>
                <a:spcPct val="105000"/>
              </a:lnSpc>
              <a:buNone/>
            </a:pPr>
            <a:r>
              <a:rPr lang="en-US" sz="1150" dirty="0">
                <a:solidFill>
                  <a:srgbClr val="1A1A2E"/>
                </a:solidFill>
                <a:latin typeface="Calibri" pitchFamily="34" charset="0"/>
                <a:ea typeface="Calibri" pitchFamily="34" charset="-122"/>
                <a:cs typeface="Calibri" pitchFamily="34" charset="-120"/>
              </a:rPr>
              <a:t>Aansprakelijkheid in de voorwaarden beperkt tot het aankoopbedrag</a:t>
            </a:r>
            <a:endParaRPr lang="en-US" sz="1150" dirty="0"/>
          </a:p>
        </p:txBody>
      </p:sp>
      <p:sp>
        <p:nvSpPr>
          <p:cNvPr id="30" name="Text 19"/>
          <p:cNvSpPr txBox="1"/>
          <p:nvPr/>
        </p:nvSpPr>
        <p:spPr>
          <a:xfrm>
            <a:off x="640080" y="4544568"/>
            <a:ext cx="10881360" cy="365760"/>
          </a:xfrm>
          <a:prstGeom prst="rect">
            <a:avLst/>
          </a:prstGeom>
          <a:noFill/>
          <a:ln/>
        </p:spPr>
        <p:txBody>
          <a:bodyPr wrap="square" lIns="0" tIns="0" rIns="0" bIns="0" rtlCol="0" anchor="ctr"/>
          <a:lstStyle/>
          <a:p>
            <a:pPr marL="0" indent="0">
              <a:buNone/>
            </a:pPr>
            <a:r>
              <a:rPr lang="en-US" sz="1150" i="1" dirty="0">
                <a:solidFill>
                  <a:srgbClr val="6B6B7D"/>
                </a:solidFill>
                <a:latin typeface="Calibri" pitchFamily="34" charset="0"/>
                <a:ea typeface="Calibri" pitchFamily="34" charset="-122"/>
                <a:cs typeface="Calibri" pitchFamily="34" charset="-120"/>
              </a:rPr>
              <a:t>Vóór brede publieke lancering (ná deze 8 weken, bij duidelijk positieve resultaten): formele AVG-toets, EU AI Act-beoordeling en een formele veiligheids-taxonomie.</a:t>
            </a:r>
            <a:endParaRPr lang="en-US" sz="1150" dirty="0"/>
          </a:p>
        </p:txBody>
      </p:sp>
      <p:sp>
        <p:nvSpPr>
          <p:cNvPr id="31" name="Text 20"/>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AVG &amp; juridisch minimum</a:t>
            </a:r>
            <a:endParaRPr lang="en-US" sz="1000" dirty="0"/>
          </a:p>
        </p:txBody>
      </p:sp>
      <p:sp>
        <p:nvSpPr>
          <p:cNvPr id="32" name="Text 21"/>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FINANCIEEL</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Budget — praktisch overzicht</a:t>
            </a:r>
            <a:endParaRPr lang="en-US" sz="2600" dirty="0"/>
          </a:p>
        </p:txBody>
      </p:sp>
      <p:sp>
        <p:nvSpPr>
          <p:cNvPr id="6" name="Shape 3"/>
          <p:cNvSpPr/>
          <p:nvPr/>
        </p:nvSpPr>
        <p:spPr>
          <a:xfrm>
            <a:off x="640080" y="1508760"/>
            <a:ext cx="6949440" cy="384048"/>
          </a:xfrm>
          <a:prstGeom prst="rect">
            <a:avLst/>
          </a:prstGeom>
          <a:solidFill>
            <a:srgbClr val="EFEAFB"/>
          </a:solidFill>
          <a:ln/>
        </p:spPr>
      </p:sp>
      <p:sp>
        <p:nvSpPr>
          <p:cNvPr id="7" name="Text 4"/>
          <p:cNvSpPr txBox="1"/>
          <p:nvPr/>
        </p:nvSpPr>
        <p:spPr>
          <a:xfrm>
            <a:off x="777240" y="1508760"/>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KVK-inschrijving (eenmanszaak)</a:t>
            </a:r>
            <a:endParaRPr lang="en-US" sz="1150" dirty="0"/>
          </a:p>
        </p:txBody>
      </p:sp>
      <p:sp>
        <p:nvSpPr>
          <p:cNvPr id="8" name="Text 5"/>
          <p:cNvSpPr txBox="1"/>
          <p:nvPr/>
        </p:nvSpPr>
        <p:spPr>
          <a:xfrm>
            <a:off x="4948733" y="1508760"/>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€85,15 eenmalig</a:t>
            </a:r>
            <a:endParaRPr lang="en-US" sz="1150" dirty="0"/>
          </a:p>
        </p:txBody>
      </p:sp>
      <p:sp>
        <p:nvSpPr>
          <p:cNvPr id="9" name="Text 6"/>
          <p:cNvSpPr txBox="1"/>
          <p:nvPr/>
        </p:nvSpPr>
        <p:spPr>
          <a:xfrm>
            <a:off x="777240" y="1892808"/>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Zakelijke bankrekening</a:t>
            </a:r>
            <a:endParaRPr lang="en-US" sz="1150" dirty="0"/>
          </a:p>
        </p:txBody>
      </p:sp>
      <p:sp>
        <p:nvSpPr>
          <p:cNvPr id="10" name="Text 7"/>
          <p:cNvSpPr txBox="1"/>
          <p:nvPr/>
        </p:nvSpPr>
        <p:spPr>
          <a:xfrm>
            <a:off x="4948733" y="1892808"/>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€10–20 / mnd</a:t>
            </a:r>
            <a:endParaRPr lang="en-US" sz="1150" dirty="0"/>
          </a:p>
        </p:txBody>
      </p:sp>
      <p:sp>
        <p:nvSpPr>
          <p:cNvPr id="11" name="Shape 8"/>
          <p:cNvSpPr/>
          <p:nvPr/>
        </p:nvSpPr>
        <p:spPr>
          <a:xfrm>
            <a:off x="640080" y="2276856"/>
            <a:ext cx="6949440" cy="384048"/>
          </a:xfrm>
          <a:prstGeom prst="rect">
            <a:avLst/>
          </a:prstGeom>
          <a:solidFill>
            <a:srgbClr val="EFEAFB"/>
          </a:solidFill>
          <a:ln/>
        </p:spPr>
      </p:sp>
      <p:sp>
        <p:nvSpPr>
          <p:cNvPr id="12" name="Text 9"/>
          <p:cNvSpPr txBox="1"/>
          <p:nvPr/>
        </p:nvSpPr>
        <p:spPr>
          <a:xfrm>
            <a:off x="777240" y="2276856"/>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Domeinnaam (Vimexx/TransIP)</a:t>
            </a:r>
            <a:endParaRPr lang="en-US" sz="1150" dirty="0"/>
          </a:p>
        </p:txBody>
      </p:sp>
      <p:sp>
        <p:nvSpPr>
          <p:cNvPr id="13" name="Text 10"/>
          <p:cNvSpPr txBox="1"/>
          <p:nvPr/>
        </p:nvSpPr>
        <p:spPr>
          <a:xfrm>
            <a:off x="4948733" y="2276856"/>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€10–15 / jaar</a:t>
            </a:r>
            <a:endParaRPr lang="en-US" sz="1150" dirty="0"/>
          </a:p>
        </p:txBody>
      </p:sp>
      <p:sp>
        <p:nvSpPr>
          <p:cNvPr id="14" name="Text 11"/>
          <p:cNvSpPr txBox="1"/>
          <p:nvPr/>
        </p:nvSpPr>
        <p:spPr>
          <a:xfrm>
            <a:off x="777240" y="2660904"/>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Hosting (Vercel)</a:t>
            </a:r>
            <a:endParaRPr lang="en-US" sz="1150" dirty="0"/>
          </a:p>
        </p:txBody>
      </p:sp>
      <p:sp>
        <p:nvSpPr>
          <p:cNvPr id="15" name="Text 12"/>
          <p:cNvSpPr txBox="1"/>
          <p:nvPr/>
        </p:nvSpPr>
        <p:spPr>
          <a:xfrm>
            <a:off x="4948733" y="2660904"/>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€0 / mnd</a:t>
            </a:r>
            <a:endParaRPr lang="en-US" sz="1150" dirty="0"/>
          </a:p>
        </p:txBody>
      </p:sp>
      <p:sp>
        <p:nvSpPr>
          <p:cNvPr id="16" name="Shape 13"/>
          <p:cNvSpPr/>
          <p:nvPr/>
        </p:nvSpPr>
        <p:spPr>
          <a:xfrm>
            <a:off x="640080" y="3044952"/>
            <a:ext cx="6949440" cy="384048"/>
          </a:xfrm>
          <a:prstGeom prst="rect">
            <a:avLst/>
          </a:prstGeom>
          <a:solidFill>
            <a:srgbClr val="EFEAFB"/>
          </a:solidFill>
          <a:ln/>
        </p:spPr>
      </p:sp>
      <p:sp>
        <p:nvSpPr>
          <p:cNvPr id="17" name="Text 14"/>
          <p:cNvSpPr txBox="1"/>
          <p:nvPr/>
        </p:nvSpPr>
        <p:spPr>
          <a:xfrm>
            <a:off x="777240" y="3044952"/>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Database (Supabase)</a:t>
            </a:r>
            <a:endParaRPr lang="en-US" sz="1150" dirty="0"/>
          </a:p>
        </p:txBody>
      </p:sp>
      <p:sp>
        <p:nvSpPr>
          <p:cNvPr id="18" name="Text 15"/>
          <p:cNvSpPr txBox="1"/>
          <p:nvPr/>
        </p:nvSpPr>
        <p:spPr>
          <a:xfrm>
            <a:off x="4948733" y="3044952"/>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€0–25 / mnd</a:t>
            </a:r>
            <a:endParaRPr lang="en-US" sz="1150" dirty="0"/>
          </a:p>
        </p:txBody>
      </p:sp>
      <p:sp>
        <p:nvSpPr>
          <p:cNvPr id="19" name="Text 16"/>
          <p:cNvSpPr txBox="1"/>
          <p:nvPr/>
        </p:nvSpPr>
        <p:spPr>
          <a:xfrm>
            <a:off x="777240" y="3429000"/>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AI-model (API)</a:t>
            </a:r>
            <a:endParaRPr lang="en-US" sz="1150" dirty="0"/>
          </a:p>
        </p:txBody>
      </p:sp>
      <p:sp>
        <p:nvSpPr>
          <p:cNvPr id="20" name="Text 17"/>
          <p:cNvSpPr txBox="1"/>
          <p:nvPr/>
        </p:nvSpPr>
        <p:spPr>
          <a:xfrm>
            <a:off x="4948733" y="3429000"/>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€20–150 / mnd</a:t>
            </a:r>
            <a:endParaRPr lang="en-US" sz="1150" dirty="0"/>
          </a:p>
        </p:txBody>
      </p:sp>
      <p:sp>
        <p:nvSpPr>
          <p:cNvPr id="21" name="Shape 18"/>
          <p:cNvSpPr/>
          <p:nvPr/>
        </p:nvSpPr>
        <p:spPr>
          <a:xfrm>
            <a:off x="640080" y="3813048"/>
            <a:ext cx="6949440" cy="384048"/>
          </a:xfrm>
          <a:prstGeom prst="rect">
            <a:avLst/>
          </a:prstGeom>
          <a:solidFill>
            <a:srgbClr val="EFEAFB"/>
          </a:solidFill>
          <a:ln/>
        </p:spPr>
      </p:sp>
      <p:sp>
        <p:nvSpPr>
          <p:cNvPr id="22" name="Text 19"/>
          <p:cNvSpPr txBox="1"/>
          <p:nvPr/>
        </p:nvSpPr>
        <p:spPr>
          <a:xfrm>
            <a:off x="777240" y="3813048"/>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Stripe</a:t>
            </a:r>
            <a:endParaRPr lang="en-US" sz="1150" dirty="0"/>
          </a:p>
        </p:txBody>
      </p:sp>
      <p:sp>
        <p:nvSpPr>
          <p:cNvPr id="23" name="Text 20"/>
          <p:cNvSpPr txBox="1"/>
          <p:nvPr/>
        </p:nvSpPr>
        <p:spPr>
          <a:xfrm>
            <a:off x="4948733" y="3813048"/>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~1,5–2,9% + €0,25 / transactie</a:t>
            </a:r>
            <a:endParaRPr lang="en-US" sz="1150" dirty="0"/>
          </a:p>
        </p:txBody>
      </p:sp>
      <p:sp>
        <p:nvSpPr>
          <p:cNvPr id="24" name="Text 21"/>
          <p:cNvSpPr txBox="1"/>
          <p:nvPr/>
        </p:nvSpPr>
        <p:spPr>
          <a:xfrm>
            <a:off x="777240" y="4197096"/>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E-mail (Resend/Postmark)</a:t>
            </a:r>
            <a:endParaRPr lang="en-US" sz="1150" dirty="0"/>
          </a:p>
        </p:txBody>
      </p:sp>
      <p:sp>
        <p:nvSpPr>
          <p:cNvPr id="25" name="Text 22"/>
          <p:cNvSpPr txBox="1"/>
          <p:nvPr/>
        </p:nvSpPr>
        <p:spPr>
          <a:xfrm>
            <a:off x="4948733" y="4197096"/>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€0–20 / mnd</a:t>
            </a:r>
            <a:endParaRPr lang="en-US" sz="1150" dirty="0"/>
          </a:p>
        </p:txBody>
      </p:sp>
      <p:sp>
        <p:nvSpPr>
          <p:cNvPr id="26" name="Shape 23"/>
          <p:cNvSpPr/>
          <p:nvPr/>
        </p:nvSpPr>
        <p:spPr>
          <a:xfrm>
            <a:off x="640080" y="4581144"/>
            <a:ext cx="6949440" cy="384048"/>
          </a:xfrm>
          <a:prstGeom prst="rect">
            <a:avLst/>
          </a:prstGeom>
          <a:solidFill>
            <a:srgbClr val="EFEAFB"/>
          </a:solidFill>
          <a:ln/>
        </p:spPr>
      </p:sp>
      <p:sp>
        <p:nvSpPr>
          <p:cNvPr id="27" name="Text 24"/>
          <p:cNvSpPr txBox="1"/>
          <p:nvPr/>
        </p:nvSpPr>
        <p:spPr>
          <a:xfrm>
            <a:off x="777240" y="4581144"/>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Voorwaarden / privacyverklaring</a:t>
            </a:r>
            <a:endParaRPr lang="en-US" sz="1150" dirty="0"/>
          </a:p>
        </p:txBody>
      </p:sp>
      <p:sp>
        <p:nvSpPr>
          <p:cNvPr id="28" name="Text 25"/>
          <p:cNvSpPr txBox="1"/>
          <p:nvPr/>
        </p:nvSpPr>
        <p:spPr>
          <a:xfrm>
            <a:off x="4948733" y="4581144"/>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€0–150 eenmalig</a:t>
            </a:r>
            <a:endParaRPr lang="en-US" sz="1150" dirty="0"/>
          </a:p>
        </p:txBody>
      </p:sp>
      <p:sp>
        <p:nvSpPr>
          <p:cNvPr id="29" name="Text 26"/>
          <p:cNvSpPr txBox="1"/>
          <p:nvPr/>
        </p:nvSpPr>
        <p:spPr>
          <a:xfrm>
            <a:off x="777240" y="4965192"/>
            <a:ext cx="4308653" cy="384048"/>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Testadvertenties (week 7)</a:t>
            </a:r>
            <a:endParaRPr lang="en-US" sz="1150" dirty="0"/>
          </a:p>
        </p:txBody>
      </p:sp>
      <p:sp>
        <p:nvSpPr>
          <p:cNvPr id="30" name="Text 27"/>
          <p:cNvSpPr txBox="1"/>
          <p:nvPr/>
        </p:nvSpPr>
        <p:spPr>
          <a:xfrm>
            <a:off x="4948733" y="4965192"/>
            <a:ext cx="2503627" cy="384048"/>
          </a:xfrm>
          <a:prstGeom prst="rect">
            <a:avLst/>
          </a:prstGeom>
          <a:noFill/>
          <a:ln/>
        </p:spPr>
        <p:txBody>
          <a:bodyPr wrap="square" lIns="0" tIns="0" rIns="0" bIns="0" rtlCol="0" anchor="ctr"/>
          <a:lstStyle/>
          <a:p>
            <a:pPr marL="0" indent="0" algn="r">
              <a:buNone/>
            </a:pPr>
            <a:r>
              <a:rPr lang="en-US" sz="1150" b="1" dirty="0">
                <a:solidFill>
                  <a:srgbClr val="4B2AA6"/>
                </a:solidFill>
                <a:latin typeface="Calibri" pitchFamily="34" charset="0"/>
                <a:ea typeface="Calibri" pitchFamily="34" charset="-122"/>
                <a:cs typeface="Calibri" pitchFamily="34" charset="-120"/>
              </a:rPr>
              <a:t>€50–100 eenmalig</a:t>
            </a:r>
            <a:endParaRPr lang="en-US" sz="1150" dirty="0"/>
          </a:p>
        </p:txBody>
      </p:sp>
      <p:sp>
        <p:nvSpPr>
          <p:cNvPr id="31" name="Shape 28"/>
          <p:cNvSpPr/>
          <p:nvPr/>
        </p:nvSpPr>
        <p:spPr>
          <a:xfrm>
            <a:off x="7955280" y="1508760"/>
            <a:ext cx="3566160" cy="1828800"/>
          </a:xfrm>
          <a:prstGeom prst="roundRect">
            <a:avLst>
              <a:gd name="adj" fmla="val 4500"/>
            </a:avLst>
          </a:prstGeom>
          <a:solidFill>
            <a:srgbClr val="6C3CE9"/>
          </a:solidFill>
          <a:ln w="12700">
            <a:solidFill>
              <a:srgbClr val="E1DCF2"/>
            </a:solidFill>
            <a:prstDash val="solid"/>
          </a:ln>
          <a:effectLst>
            <a:outerShdw blurRad="127000" dist="38100" dir="5400000" algn="bl" rotWithShape="0">
              <a:srgbClr val="3A3450">
                <a:alpha val="16000"/>
              </a:srgbClr>
            </a:outerShdw>
          </a:effectLst>
        </p:spPr>
      </p:sp>
      <p:sp>
        <p:nvSpPr>
          <p:cNvPr id="32" name="Text 29"/>
          <p:cNvSpPr txBox="1"/>
          <p:nvPr/>
        </p:nvSpPr>
        <p:spPr>
          <a:xfrm>
            <a:off x="8229600" y="1691640"/>
            <a:ext cx="3017520" cy="274320"/>
          </a:xfrm>
          <a:prstGeom prst="rect">
            <a:avLst/>
          </a:prstGeom>
          <a:noFill/>
          <a:ln/>
        </p:spPr>
        <p:txBody>
          <a:bodyPr wrap="square" lIns="0" tIns="0" rIns="0" bIns="0" rtlCol="0" anchor="ctr"/>
          <a:lstStyle/>
          <a:p>
            <a:pPr marL="0" indent="0">
              <a:buNone/>
            </a:pPr>
            <a:r>
              <a:rPr lang="en-US" sz="1100" b="1" kern="0" spc="150" dirty="0">
                <a:solidFill>
                  <a:srgbClr val="D8CFF5"/>
                </a:solidFill>
                <a:latin typeface="Calibri" pitchFamily="34" charset="0"/>
                <a:ea typeface="Calibri" pitchFamily="34" charset="-122"/>
                <a:cs typeface="Calibri" pitchFamily="34" charset="-120"/>
              </a:rPr>
              <a:t>EENMALIG</a:t>
            </a:r>
            <a:endParaRPr lang="en-US" sz="1100" dirty="0"/>
          </a:p>
        </p:txBody>
      </p:sp>
      <p:sp>
        <p:nvSpPr>
          <p:cNvPr id="33" name="Text 30"/>
          <p:cNvSpPr txBox="1"/>
          <p:nvPr/>
        </p:nvSpPr>
        <p:spPr>
          <a:xfrm>
            <a:off x="8229600" y="1965960"/>
            <a:ext cx="301752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€500–950</a:t>
            </a:r>
            <a:endParaRPr lang="en-US" sz="3200" dirty="0"/>
          </a:p>
        </p:txBody>
      </p:sp>
      <p:sp>
        <p:nvSpPr>
          <p:cNvPr id="34" name="Text 31"/>
          <p:cNvSpPr txBox="1"/>
          <p:nvPr/>
        </p:nvSpPr>
        <p:spPr>
          <a:xfrm>
            <a:off x="8229600" y="2743200"/>
            <a:ext cx="3017520" cy="457200"/>
          </a:xfrm>
          <a:prstGeom prst="rect">
            <a:avLst/>
          </a:prstGeom>
          <a:noFill/>
          <a:ln/>
        </p:spPr>
        <p:txBody>
          <a:bodyPr wrap="square" lIns="0" tIns="0" rIns="0" bIns="0" rtlCol="0" anchor="ctr"/>
          <a:lstStyle/>
          <a:p>
            <a:pPr marL="0" indent="0">
              <a:lnSpc>
                <a:spcPct val="110000"/>
              </a:lnSpc>
              <a:buNone/>
            </a:pPr>
            <a:r>
              <a:rPr lang="en-US" sz="1100" dirty="0">
                <a:solidFill>
                  <a:srgbClr val="D8CFF5"/>
                </a:solidFill>
                <a:latin typeface="Calibri" pitchFamily="34" charset="0"/>
                <a:ea typeface="Calibri" pitchFamily="34" charset="-122"/>
                <a:cs typeface="Calibri" pitchFamily="34" charset="-120"/>
              </a:rPr>
              <a:t>investering over de volle 8 weken</a:t>
            </a:r>
            <a:endParaRPr lang="en-US" sz="1100" dirty="0"/>
          </a:p>
        </p:txBody>
      </p:sp>
      <p:sp>
        <p:nvSpPr>
          <p:cNvPr id="35" name="Shape 32"/>
          <p:cNvSpPr/>
          <p:nvPr/>
        </p:nvSpPr>
        <p:spPr>
          <a:xfrm>
            <a:off x="7955280" y="3520440"/>
            <a:ext cx="3566160" cy="1554480"/>
          </a:xfrm>
          <a:prstGeom prst="roundRect">
            <a:avLst>
              <a:gd name="adj" fmla="val 5294"/>
            </a:avLst>
          </a:prstGeom>
          <a:solidFill>
            <a:srgbClr val="FFFFFF"/>
          </a:solidFill>
          <a:ln w="12700">
            <a:solidFill>
              <a:srgbClr val="E1DCF2"/>
            </a:solidFill>
            <a:prstDash val="solid"/>
          </a:ln>
          <a:effectLst>
            <a:outerShdw blurRad="127000" dist="38100" dir="5400000" algn="bl" rotWithShape="0">
              <a:srgbClr val="3A3450">
                <a:alpha val="16000"/>
              </a:srgbClr>
            </a:outerShdw>
          </a:effectLst>
        </p:spPr>
      </p:sp>
      <p:sp>
        <p:nvSpPr>
          <p:cNvPr id="36" name="Text 33"/>
          <p:cNvSpPr txBox="1"/>
          <p:nvPr/>
        </p:nvSpPr>
        <p:spPr>
          <a:xfrm>
            <a:off x="8229600" y="3703320"/>
            <a:ext cx="3017520" cy="274320"/>
          </a:xfrm>
          <a:prstGeom prst="rect">
            <a:avLst/>
          </a:prstGeom>
          <a:noFill/>
          <a:ln/>
        </p:spPr>
        <p:txBody>
          <a:bodyPr wrap="square" lIns="0" tIns="0" rIns="0" bIns="0" rtlCol="0" anchor="ctr"/>
          <a:lstStyle/>
          <a:p>
            <a:pPr marL="0" indent="0">
              <a:buNone/>
            </a:pPr>
            <a:r>
              <a:rPr lang="en-US" sz="1100" b="1" kern="0" spc="150" dirty="0">
                <a:solidFill>
                  <a:srgbClr val="4B2AA6"/>
                </a:solidFill>
                <a:latin typeface="Calibri" pitchFamily="34" charset="0"/>
                <a:ea typeface="Calibri" pitchFamily="34" charset="-122"/>
                <a:cs typeface="Calibri" pitchFamily="34" charset="-120"/>
              </a:rPr>
              <a:t>DOORLOPEND</a:t>
            </a:r>
            <a:endParaRPr lang="en-US" sz="1100" dirty="0"/>
          </a:p>
        </p:txBody>
      </p:sp>
      <p:sp>
        <p:nvSpPr>
          <p:cNvPr id="37" name="Text 34"/>
          <p:cNvSpPr txBox="1"/>
          <p:nvPr/>
        </p:nvSpPr>
        <p:spPr>
          <a:xfrm>
            <a:off x="8229600" y="3977640"/>
            <a:ext cx="3017520" cy="502920"/>
          </a:xfrm>
          <a:prstGeom prst="rect">
            <a:avLst/>
          </a:prstGeom>
          <a:noFill/>
          <a:ln/>
        </p:spPr>
        <p:txBody>
          <a:bodyPr wrap="square" lIns="0" tIns="0" rIns="0" bIns="0"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€50–150 / mnd</a:t>
            </a:r>
            <a:endParaRPr lang="en-US" sz="2400" dirty="0"/>
          </a:p>
        </p:txBody>
      </p:sp>
      <p:sp>
        <p:nvSpPr>
          <p:cNvPr id="38" name="Text 35"/>
          <p:cNvSpPr txBox="1"/>
          <p:nvPr/>
        </p:nvSpPr>
        <p:spPr>
          <a:xfrm>
            <a:off x="8229600" y="4507992"/>
            <a:ext cx="3017520" cy="502920"/>
          </a:xfrm>
          <a:prstGeom prst="rect">
            <a:avLst/>
          </a:prstGeom>
          <a:noFill/>
          <a:ln/>
        </p:spPr>
        <p:txBody>
          <a:bodyPr wrap="square" lIns="0" tIns="0" rIns="0" bIns="0" rtlCol="0" anchor="ctr"/>
          <a:lstStyle/>
          <a:p>
            <a:pPr marL="0" indent="0">
              <a:lnSpc>
                <a:spcPct val="110000"/>
              </a:lnSpc>
              <a:buNone/>
            </a:pPr>
            <a:r>
              <a:rPr lang="en-US" sz="1050" dirty="0">
                <a:solidFill>
                  <a:srgbClr val="6B6B7D"/>
                </a:solidFill>
                <a:latin typeface="Calibri" pitchFamily="34" charset="0"/>
                <a:ea typeface="Calibri" pitchFamily="34" charset="-122"/>
                <a:cs typeface="Calibri" pitchFamily="34" charset="-120"/>
              </a:rPr>
              <a:t>grotendeels variabel, op te schorten bij negatief besluit</a:t>
            </a:r>
            <a:endParaRPr lang="en-US" sz="1050" dirty="0"/>
          </a:p>
        </p:txBody>
      </p:sp>
      <p:sp>
        <p:nvSpPr>
          <p:cNvPr id="39" name="Text 36"/>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Budget</a:t>
            </a:r>
            <a:endParaRPr lang="en-US" sz="1000" dirty="0"/>
          </a:p>
        </p:txBody>
      </p:sp>
      <p:sp>
        <p:nvSpPr>
          <p:cNvPr id="40" name="Text 37"/>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ellipse">
            <a:avLst/>
          </a:prstGeom>
          <a:solidFill>
            <a:srgbClr val="6C3CE9"/>
          </a:solidFill>
          <a:ln/>
        </p:spPr>
      </p:sp>
      <p:pic>
        <p:nvPicPr>
          <p:cNvPr id="3" name="Image 0" descr="preencoded.png"/>
          <p:cNvPicPr>
            <a:picLocks noChangeAspect="1"/>
          </p:cNvPicPr>
          <p:nvPr/>
        </p:nvPicPr>
        <p:blipFill>
          <a:blip r:embed="rId3"/>
          <a:stretch>
            <a:fillRect/>
          </a:stretch>
        </p:blipFill>
        <p:spPr>
          <a:xfrm>
            <a:off x="770839" y="587959"/>
            <a:ext cx="241402" cy="241402"/>
          </a:xfrm>
          <a:prstGeom prst="rect">
            <a:avLst/>
          </a:prstGeom>
        </p:spPr>
      </p:pic>
      <p:sp>
        <p:nvSpPr>
          <p:cNvPr id="4" name="Text 1"/>
          <p:cNvSpPr txBox="1"/>
          <p:nvPr/>
        </p:nvSpPr>
        <p:spPr>
          <a:xfrm>
            <a:off x="1325880" y="429768"/>
            <a:ext cx="7315200" cy="256032"/>
          </a:xfrm>
          <a:prstGeom prst="rect">
            <a:avLst/>
          </a:prstGeom>
          <a:noFill/>
          <a:ln/>
        </p:spPr>
        <p:txBody>
          <a:bodyPr wrap="square" lIns="0" tIns="0" rIns="0" bIns="0" rtlCol="0" anchor="ctr"/>
          <a:lstStyle/>
          <a:p>
            <a:pPr marL="0" indent="0">
              <a:buNone/>
            </a:pPr>
            <a:r>
              <a:rPr lang="en-US" sz="1200" b="1" kern="0" spc="200" dirty="0">
                <a:solidFill>
                  <a:srgbClr val="4B2AA6"/>
                </a:solidFill>
                <a:latin typeface="Calibri" pitchFamily="34" charset="0"/>
                <a:ea typeface="Calibri" pitchFamily="34" charset="-122"/>
                <a:cs typeface="Calibri" pitchFamily="34" charset="-120"/>
              </a:rPr>
              <a:t>ACTIE</a:t>
            </a:r>
            <a:endParaRPr lang="en-US" sz="1200" dirty="0"/>
          </a:p>
        </p:txBody>
      </p:sp>
      <p:sp>
        <p:nvSpPr>
          <p:cNvPr id="5" name="Text 2"/>
          <p:cNvSpPr txBox="1"/>
          <p:nvPr/>
        </p:nvSpPr>
        <p:spPr>
          <a:xfrm>
            <a:off x="1325880" y="640080"/>
            <a:ext cx="9601200" cy="5029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Deze week concreet te doen</a:t>
            </a:r>
            <a:endParaRPr lang="en-US" sz="2600" dirty="0"/>
          </a:p>
        </p:txBody>
      </p:sp>
      <p:sp>
        <p:nvSpPr>
          <p:cNvPr id="6" name="Text 3"/>
          <p:cNvSpPr txBox="1"/>
          <p:nvPr/>
        </p:nvSpPr>
        <p:spPr>
          <a:xfrm>
            <a:off x="640080" y="1371600"/>
            <a:ext cx="10881360" cy="365760"/>
          </a:xfrm>
          <a:prstGeom prst="rect">
            <a:avLst/>
          </a:prstGeom>
          <a:noFill/>
          <a:ln/>
        </p:spPr>
        <p:txBody>
          <a:bodyPr wrap="square" lIns="0" tIns="0" rIns="0" bIns="0" rtlCol="0" anchor="ctr"/>
          <a:lstStyle/>
          <a:p>
            <a:pPr marL="0" indent="0">
              <a:buNone/>
            </a:pPr>
            <a:r>
              <a:rPr lang="en-US" sz="1350" i="1" dirty="0">
                <a:solidFill>
                  <a:srgbClr val="6B6B7D"/>
                </a:solidFill>
                <a:latin typeface="Calibri" pitchFamily="34" charset="0"/>
                <a:ea typeface="Calibri" pitchFamily="34" charset="-122"/>
                <a:cs typeface="Calibri" pitchFamily="34" charset="-120"/>
              </a:rPr>
              <a:t>Geen onderzoek meer nodig — dit zijn de uitvoerbare stappen om vandaag mee te beginnen (= Week 1).</a:t>
            </a:r>
            <a:endParaRPr lang="en-US" sz="1350" dirty="0"/>
          </a:p>
        </p:txBody>
      </p:sp>
      <p:sp>
        <p:nvSpPr>
          <p:cNvPr id="7" name="Shape 4"/>
          <p:cNvSpPr/>
          <p:nvPr/>
        </p:nvSpPr>
        <p:spPr>
          <a:xfrm>
            <a:off x="640080" y="1965960"/>
            <a:ext cx="365760" cy="365760"/>
          </a:xfrm>
          <a:prstGeom prst="roundRect">
            <a:avLst>
              <a:gd name="adj" fmla="val 17500"/>
            </a:avLst>
          </a:prstGeom>
          <a:solidFill>
            <a:srgbClr val="FFFFFF"/>
          </a:solidFill>
          <a:ln w="19050">
            <a:solidFill>
              <a:srgbClr val="6C3CE9"/>
            </a:solidFill>
            <a:prstDash val="solid"/>
          </a:ln>
        </p:spPr>
      </p:sp>
      <p:sp>
        <p:nvSpPr>
          <p:cNvPr id="8" name="Text 5"/>
          <p:cNvSpPr txBox="1"/>
          <p:nvPr/>
        </p:nvSpPr>
        <p:spPr>
          <a:xfrm>
            <a:off x="1188720" y="1965960"/>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Leg kernbelofte en één doelgroep vast</a:t>
            </a:r>
            <a:endParaRPr lang="en-US" sz="1400" dirty="0"/>
          </a:p>
        </p:txBody>
      </p:sp>
      <p:sp>
        <p:nvSpPr>
          <p:cNvPr id="9" name="Shape 6"/>
          <p:cNvSpPr/>
          <p:nvPr/>
        </p:nvSpPr>
        <p:spPr>
          <a:xfrm>
            <a:off x="640080" y="2569464"/>
            <a:ext cx="365760" cy="365760"/>
          </a:xfrm>
          <a:prstGeom prst="roundRect">
            <a:avLst>
              <a:gd name="adj" fmla="val 17500"/>
            </a:avLst>
          </a:prstGeom>
          <a:solidFill>
            <a:srgbClr val="FFFFFF"/>
          </a:solidFill>
          <a:ln w="19050">
            <a:solidFill>
              <a:srgbClr val="6C3CE9"/>
            </a:solidFill>
            <a:prstDash val="solid"/>
          </a:ln>
        </p:spPr>
      </p:sp>
      <p:sp>
        <p:nvSpPr>
          <p:cNvPr id="10" name="Text 7"/>
          <p:cNvSpPr txBox="1"/>
          <p:nvPr/>
        </p:nvSpPr>
        <p:spPr>
          <a:xfrm>
            <a:off x="1188720" y="2569464"/>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Check naam, merk- en domeinbeschikbaarheid voor WINDOW</a:t>
            </a:r>
            <a:endParaRPr lang="en-US" sz="1400" dirty="0"/>
          </a:p>
        </p:txBody>
      </p:sp>
      <p:sp>
        <p:nvSpPr>
          <p:cNvPr id="11" name="Shape 8"/>
          <p:cNvSpPr/>
          <p:nvPr/>
        </p:nvSpPr>
        <p:spPr>
          <a:xfrm>
            <a:off x="640080" y="3172968"/>
            <a:ext cx="365760" cy="365760"/>
          </a:xfrm>
          <a:prstGeom prst="roundRect">
            <a:avLst>
              <a:gd name="adj" fmla="val 17500"/>
            </a:avLst>
          </a:prstGeom>
          <a:solidFill>
            <a:srgbClr val="FFFFFF"/>
          </a:solidFill>
          <a:ln w="19050">
            <a:solidFill>
              <a:srgbClr val="6C3CE9"/>
            </a:solidFill>
            <a:prstDash val="solid"/>
          </a:ln>
        </p:spPr>
      </p:sp>
      <p:sp>
        <p:nvSpPr>
          <p:cNvPr id="12" name="Text 9"/>
          <p:cNvSpPr txBox="1"/>
          <p:nvPr/>
        </p:nvSpPr>
        <p:spPr>
          <a:xfrm>
            <a:off x="1188720" y="3172968"/>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Maak vandaag een afspraak voor KVK-inschrijving</a:t>
            </a:r>
            <a:endParaRPr lang="en-US" sz="1400" dirty="0"/>
          </a:p>
        </p:txBody>
      </p:sp>
      <p:sp>
        <p:nvSpPr>
          <p:cNvPr id="13" name="Shape 10"/>
          <p:cNvSpPr/>
          <p:nvPr/>
        </p:nvSpPr>
        <p:spPr>
          <a:xfrm>
            <a:off x="640080" y="3776472"/>
            <a:ext cx="365760" cy="365760"/>
          </a:xfrm>
          <a:prstGeom prst="roundRect">
            <a:avLst>
              <a:gd name="adj" fmla="val 17500"/>
            </a:avLst>
          </a:prstGeom>
          <a:solidFill>
            <a:srgbClr val="FFFFFF"/>
          </a:solidFill>
          <a:ln w="19050">
            <a:solidFill>
              <a:srgbClr val="6C3CE9"/>
            </a:solidFill>
            <a:prstDash val="solid"/>
          </a:ln>
        </p:spPr>
      </p:sp>
      <p:sp>
        <p:nvSpPr>
          <p:cNvPr id="14" name="Text 11"/>
          <p:cNvSpPr txBox="1"/>
          <p:nvPr/>
        </p:nvSpPr>
        <p:spPr>
          <a:xfrm>
            <a:off x="1188720" y="3776472"/>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Controleer je arbeidsovereenkomst en meld WINDOW bij Arcona Capital</a:t>
            </a:r>
            <a:endParaRPr lang="en-US" sz="1400" dirty="0"/>
          </a:p>
        </p:txBody>
      </p:sp>
      <p:sp>
        <p:nvSpPr>
          <p:cNvPr id="15" name="Shape 12"/>
          <p:cNvSpPr/>
          <p:nvPr/>
        </p:nvSpPr>
        <p:spPr>
          <a:xfrm>
            <a:off x="640080" y="4379976"/>
            <a:ext cx="365760" cy="365760"/>
          </a:xfrm>
          <a:prstGeom prst="roundRect">
            <a:avLst>
              <a:gd name="adj" fmla="val 17500"/>
            </a:avLst>
          </a:prstGeom>
          <a:solidFill>
            <a:srgbClr val="FFFFFF"/>
          </a:solidFill>
          <a:ln w="19050">
            <a:solidFill>
              <a:srgbClr val="6C3CE9"/>
            </a:solidFill>
            <a:prstDash val="solid"/>
          </a:ln>
        </p:spPr>
      </p:sp>
      <p:sp>
        <p:nvSpPr>
          <p:cNvPr id="16" name="Text 13"/>
          <p:cNvSpPr txBox="1"/>
          <p:nvPr/>
        </p:nvSpPr>
        <p:spPr>
          <a:xfrm>
            <a:off x="1188720" y="4379976"/>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Registreer de domeinnaam bij Vimexx of TransIP</a:t>
            </a:r>
            <a:endParaRPr lang="en-US" sz="1400" dirty="0"/>
          </a:p>
        </p:txBody>
      </p:sp>
      <p:sp>
        <p:nvSpPr>
          <p:cNvPr id="17" name="Shape 14"/>
          <p:cNvSpPr/>
          <p:nvPr/>
        </p:nvSpPr>
        <p:spPr>
          <a:xfrm>
            <a:off x="640080" y="4983480"/>
            <a:ext cx="365760" cy="365760"/>
          </a:xfrm>
          <a:prstGeom prst="roundRect">
            <a:avLst>
              <a:gd name="adj" fmla="val 17500"/>
            </a:avLst>
          </a:prstGeom>
          <a:solidFill>
            <a:srgbClr val="FFFFFF"/>
          </a:solidFill>
          <a:ln w="19050">
            <a:solidFill>
              <a:srgbClr val="6C3CE9"/>
            </a:solidFill>
            <a:prstDash val="solid"/>
          </a:ln>
        </p:spPr>
      </p:sp>
      <p:sp>
        <p:nvSpPr>
          <p:cNvPr id="18" name="Text 15"/>
          <p:cNvSpPr txBox="1"/>
          <p:nvPr/>
        </p:nvSpPr>
        <p:spPr>
          <a:xfrm>
            <a:off x="1188720" y="4983480"/>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Zet het Next.js-project op, koppel Vercel en Supabase</a:t>
            </a:r>
            <a:endParaRPr lang="en-US" sz="1400" dirty="0"/>
          </a:p>
        </p:txBody>
      </p:sp>
      <p:sp>
        <p:nvSpPr>
          <p:cNvPr id="19" name="Shape 16"/>
          <p:cNvSpPr/>
          <p:nvPr/>
        </p:nvSpPr>
        <p:spPr>
          <a:xfrm>
            <a:off x="640080" y="5586984"/>
            <a:ext cx="365760" cy="365760"/>
          </a:xfrm>
          <a:prstGeom prst="roundRect">
            <a:avLst>
              <a:gd name="adj" fmla="val 17500"/>
            </a:avLst>
          </a:prstGeom>
          <a:solidFill>
            <a:srgbClr val="FFFFFF"/>
          </a:solidFill>
          <a:ln w="19050">
            <a:solidFill>
              <a:srgbClr val="6C3CE9"/>
            </a:solidFill>
            <a:prstDash val="solid"/>
          </a:ln>
        </p:spPr>
      </p:sp>
      <p:sp>
        <p:nvSpPr>
          <p:cNvPr id="20" name="Text 17"/>
          <p:cNvSpPr txBox="1"/>
          <p:nvPr/>
        </p:nvSpPr>
        <p:spPr>
          <a:xfrm>
            <a:off x="1188720" y="5586984"/>
            <a:ext cx="978408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Maak een Stripe-account aan in testmodus</a:t>
            </a:r>
            <a:endParaRPr lang="en-US" sz="1400" dirty="0"/>
          </a:p>
        </p:txBody>
      </p:sp>
      <p:sp>
        <p:nvSpPr>
          <p:cNvPr id="21" name="Text 18"/>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6B7D"/>
                </a:solidFill>
                <a:latin typeface="Calibri" pitchFamily="34" charset="0"/>
                <a:ea typeface="Calibri" pitchFamily="34" charset="-122"/>
                <a:cs typeface="Calibri" pitchFamily="34" charset="-120"/>
              </a:rPr>
              <a:t>Deze week</a:t>
            </a:r>
            <a:endParaRPr lang="en-US" sz="1000" dirty="0"/>
          </a:p>
        </p:txBody>
      </p:sp>
      <p:sp>
        <p:nvSpPr>
          <p:cNvPr id="22" name="Text 19"/>
          <p:cNvSpPr txBox="1"/>
          <p:nvPr/>
        </p:nvSpPr>
        <p:spPr>
          <a:xfrm>
            <a:off x="10088575" y="6446520"/>
            <a:ext cx="1645920" cy="274320"/>
          </a:xfrm>
          <a:prstGeom prst="rect">
            <a:avLst/>
          </a:prstGeom>
          <a:noFill/>
          <a:ln/>
        </p:spPr>
        <p:txBody>
          <a:bodyPr wrap="square" lIns="0" tIns="0" rIns="0" bIns="0" rtlCol="0" anchor="ctr"/>
          <a:lstStyle/>
          <a:p>
            <a:pPr marL="0" indent="0" algn="r">
              <a:buNone/>
            </a:pPr>
            <a:r>
              <a:rPr lang="en-US" sz="1000" b="1" dirty="0">
                <a:solidFill>
                  <a:srgbClr val="6B6B7D"/>
                </a:solidFill>
                <a:latin typeface="Calibri" pitchFamily="34" charset="0"/>
                <a:ea typeface="Calibri" pitchFamily="34" charset="-122"/>
                <a:cs typeface="Calibri" pitchFamily="34" charset="-120"/>
              </a:rPr>
              <a:t>WINDOW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315200" y="-2286000"/>
            <a:ext cx="7315200" cy="7315200"/>
          </a:xfrm>
          <a:prstGeom prst="ellipse">
            <a:avLst/>
          </a:prstGeom>
          <a:solidFill>
            <a:srgbClr val="4B2AA6">
              <a:alpha val="45000"/>
            </a:srgbClr>
          </a:solidFill>
          <a:ln/>
        </p:spPr>
      </p:sp>
      <p:pic>
        <p:nvPicPr>
          <p:cNvPr id="3" name="Image 0" descr="preencoded.png"/>
          <p:cNvPicPr>
            <a:picLocks noChangeAspect="1"/>
          </p:cNvPicPr>
          <p:nvPr/>
        </p:nvPicPr>
        <p:blipFill>
          <a:blip r:embed="rId3"/>
          <a:stretch>
            <a:fillRect/>
          </a:stretch>
        </p:blipFill>
        <p:spPr>
          <a:xfrm>
            <a:off x="685800" y="640080"/>
            <a:ext cx="502920" cy="502920"/>
          </a:xfrm>
          <a:prstGeom prst="rect">
            <a:avLst/>
          </a:prstGeom>
        </p:spPr>
      </p:pic>
      <p:sp>
        <p:nvSpPr>
          <p:cNvPr id="4" name="Text 1"/>
          <p:cNvSpPr txBox="1"/>
          <p:nvPr/>
        </p:nvSpPr>
        <p:spPr>
          <a:xfrm>
            <a:off x="640080" y="1234440"/>
            <a:ext cx="7315200" cy="274320"/>
          </a:xfrm>
          <a:prstGeom prst="rect">
            <a:avLst/>
          </a:prstGeom>
          <a:noFill/>
          <a:ln/>
        </p:spPr>
        <p:txBody>
          <a:bodyPr wrap="square" lIns="0" tIns="0" rIns="0" bIns="0" rtlCol="0" anchor="ctr"/>
          <a:lstStyle/>
          <a:p>
            <a:pPr marL="0" indent="0">
              <a:buNone/>
            </a:pPr>
            <a:r>
              <a:rPr lang="en-US" sz="1200" b="1" kern="0" spc="200" dirty="0">
                <a:solidFill>
                  <a:srgbClr val="B7A6EE"/>
                </a:solidFill>
                <a:latin typeface="Calibri" pitchFamily="34" charset="0"/>
                <a:ea typeface="Calibri" pitchFamily="34" charset="-122"/>
                <a:cs typeface="Calibri" pitchFamily="34" charset="-120"/>
              </a:rPr>
              <a:t>BESLISMOMENT WEEK 8</a:t>
            </a:r>
            <a:endParaRPr lang="en-US" sz="1200" dirty="0"/>
          </a:p>
        </p:txBody>
      </p:sp>
      <p:sp>
        <p:nvSpPr>
          <p:cNvPr id="5" name="Text 2"/>
          <p:cNvSpPr txBox="1"/>
          <p:nvPr/>
        </p:nvSpPr>
        <p:spPr>
          <a:xfrm>
            <a:off x="640080" y="1554480"/>
            <a:ext cx="9875520" cy="1188720"/>
          </a:xfrm>
          <a:prstGeom prst="rect">
            <a:avLst/>
          </a:prstGeom>
          <a:noFill/>
          <a:ln/>
        </p:spPr>
        <p:txBody>
          <a:bodyPr wrap="square" lIns="0" tIns="0" rIns="0" bIns="0" rtlCol="0" anchor="ctr"/>
          <a:lstStyle/>
          <a:p>
            <a:pPr marL="0" indent="0">
              <a:lnSpc>
                <a:spcPct val="110000"/>
              </a:lnSpc>
              <a:buNone/>
            </a:pPr>
            <a:r>
              <a:rPr lang="en-US" sz="2800" b="1" dirty="0">
                <a:solidFill>
                  <a:srgbClr val="FFFFFF"/>
                </a:solidFill>
                <a:latin typeface="Cambria" pitchFamily="34" charset="0"/>
                <a:ea typeface="Cambria" pitchFamily="34" charset="-122"/>
                <a:cs typeface="Cambria" pitchFamily="34" charset="-120"/>
              </a:rPr>
              <a:t>Niet of het idee goed is — of mensen betalen, terugkomen en er iets mee doen.</a:t>
            </a:r>
            <a:endParaRPr lang="en-US" sz="2800" dirty="0"/>
          </a:p>
        </p:txBody>
      </p:sp>
      <p:sp>
        <p:nvSpPr>
          <p:cNvPr id="6" name="Shape 3"/>
          <p:cNvSpPr/>
          <p:nvPr/>
        </p:nvSpPr>
        <p:spPr>
          <a:xfrm>
            <a:off x="640080" y="3200400"/>
            <a:ext cx="3429000" cy="2377440"/>
          </a:xfrm>
          <a:prstGeom prst="roundRect">
            <a:avLst>
              <a:gd name="adj" fmla="val 3462"/>
            </a:avLst>
          </a:prstGeom>
          <a:solidFill>
            <a:srgbClr val="241E42"/>
          </a:solidFill>
          <a:ln w="12700">
            <a:solidFill>
              <a:srgbClr val="3A3162"/>
            </a:solidFill>
            <a:prstDash val="solid"/>
          </a:ln>
        </p:spPr>
      </p:sp>
      <p:sp>
        <p:nvSpPr>
          <p:cNvPr id="7" name="Shape 4"/>
          <p:cNvSpPr/>
          <p:nvPr/>
        </p:nvSpPr>
        <p:spPr>
          <a:xfrm>
            <a:off x="896112" y="3456432"/>
            <a:ext cx="502920" cy="502920"/>
          </a:xfrm>
          <a:prstGeom prst="ellipse">
            <a:avLst/>
          </a:prstGeom>
          <a:solidFill>
            <a:srgbClr val="6C3CE9"/>
          </a:solidFill>
          <a:ln/>
        </p:spPr>
      </p:sp>
      <p:pic>
        <p:nvPicPr>
          <p:cNvPr id="8" name="Image 1" descr="preencoded.png"/>
          <p:cNvPicPr>
            <a:picLocks noChangeAspect="1"/>
          </p:cNvPicPr>
          <p:nvPr/>
        </p:nvPicPr>
        <p:blipFill>
          <a:blip r:embed="rId4"/>
          <a:stretch>
            <a:fillRect/>
          </a:stretch>
        </p:blipFill>
        <p:spPr>
          <a:xfrm>
            <a:off x="1024128" y="3584448"/>
            <a:ext cx="246888" cy="246888"/>
          </a:xfrm>
          <a:prstGeom prst="rect">
            <a:avLst/>
          </a:prstGeom>
        </p:spPr>
      </p:pic>
      <p:sp>
        <p:nvSpPr>
          <p:cNvPr id="9" name="Text 5"/>
          <p:cNvSpPr txBox="1"/>
          <p:nvPr/>
        </p:nvSpPr>
        <p:spPr>
          <a:xfrm>
            <a:off x="896112" y="4114800"/>
            <a:ext cx="2916936" cy="4114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Sterke signalen</a:t>
            </a:r>
            <a:endParaRPr lang="en-US" sz="1350" dirty="0"/>
          </a:p>
        </p:txBody>
      </p:sp>
      <p:sp>
        <p:nvSpPr>
          <p:cNvPr id="10" name="Text 6"/>
          <p:cNvSpPr txBox="1"/>
          <p:nvPr/>
        </p:nvSpPr>
        <p:spPr>
          <a:xfrm>
            <a:off x="896112" y="4572000"/>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C6BBE8"/>
                </a:solidFill>
                <a:latin typeface="Calibri" pitchFamily="34" charset="0"/>
                <a:ea typeface="Calibri" pitchFamily="34" charset="-122"/>
                <a:cs typeface="Calibri" pitchFamily="34" charset="-120"/>
              </a:rPr>
              <a:t>Doorbouwen: Possibility Profile en outcome-loop verdiepen</a:t>
            </a:r>
            <a:endParaRPr lang="en-US" sz="1150" dirty="0"/>
          </a:p>
        </p:txBody>
      </p:sp>
      <p:sp>
        <p:nvSpPr>
          <p:cNvPr id="11" name="Shape 7"/>
          <p:cNvSpPr/>
          <p:nvPr/>
        </p:nvSpPr>
        <p:spPr>
          <a:xfrm>
            <a:off x="4251960" y="3200400"/>
            <a:ext cx="3429000" cy="2377440"/>
          </a:xfrm>
          <a:prstGeom prst="roundRect">
            <a:avLst>
              <a:gd name="adj" fmla="val 3462"/>
            </a:avLst>
          </a:prstGeom>
          <a:solidFill>
            <a:srgbClr val="241E42"/>
          </a:solidFill>
          <a:ln w="12700">
            <a:solidFill>
              <a:srgbClr val="3A3162"/>
            </a:solidFill>
            <a:prstDash val="solid"/>
          </a:ln>
        </p:spPr>
      </p:sp>
      <p:sp>
        <p:nvSpPr>
          <p:cNvPr id="12" name="Shape 8"/>
          <p:cNvSpPr/>
          <p:nvPr/>
        </p:nvSpPr>
        <p:spPr>
          <a:xfrm>
            <a:off x="4507992" y="3456432"/>
            <a:ext cx="502920" cy="502920"/>
          </a:xfrm>
          <a:prstGeom prst="ellipse">
            <a:avLst/>
          </a:prstGeom>
          <a:solidFill>
            <a:srgbClr val="6C3CE9"/>
          </a:solidFill>
          <a:ln/>
        </p:spPr>
      </p:sp>
      <p:pic>
        <p:nvPicPr>
          <p:cNvPr id="13" name="Image 2" descr="preencoded.png"/>
          <p:cNvPicPr>
            <a:picLocks noChangeAspect="1"/>
          </p:cNvPicPr>
          <p:nvPr/>
        </p:nvPicPr>
        <p:blipFill>
          <a:blip r:embed="rId5"/>
          <a:stretch>
            <a:fillRect/>
          </a:stretch>
        </p:blipFill>
        <p:spPr>
          <a:xfrm>
            <a:off x="4636008" y="3584448"/>
            <a:ext cx="246888" cy="246888"/>
          </a:xfrm>
          <a:prstGeom prst="rect">
            <a:avLst/>
          </a:prstGeom>
        </p:spPr>
      </p:pic>
      <p:sp>
        <p:nvSpPr>
          <p:cNvPr id="14" name="Text 9"/>
          <p:cNvSpPr txBox="1"/>
          <p:nvPr/>
        </p:nvSpPr>
        <p:spPr>
          <a:xfrm>
            <a:off x="4507992" y="4114800"/>
            <a:ext cx="2916936" cy="4114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Enthousiasme, zwakke betaling</a:t>
            </a:r>
            <a:endParaRPr lang="en-US" sz="1350" dirty="0"/>
          </a:p>
        </p:txBody>
      </p:sp>
      <p:sp>
        <p:nvSpPr>
          <p:cNvPr id="15" name="Text 10"/>
          <p:cNvSpPr txBox="1"/>
          <p:nvPr/>
        </p:nvSpPr>
        <p:spPr>
          <a:xfrm>
            <a:off x="4507992" y="4572000"/>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C6BBE8"/>
                </a:solidFill>
                <a:latin typeface="Calibri" pitchFamily="34" charset="0"/>
                <a:ea typeface="Calibri" pitchFamily="34" charset="-122"/>
                <a:cs typeface="Calibri" pitchFamily="34" charset="-120"/>
              </a:rPr>
              <a:t>Bijsturen: prijs, bundels of aanbod aanpassen</a:t>
            </a:r>
            <a:endParaRPr lang="en-US" sz="1150" dirty="0"/>
          </a:p>
        </p:txBody>
      </p:sp>
      <p:sp>
        <p:nvSpPr>
          <p:cNvPr id="16" name="Shape 11"/>
          <p:cNvSpPr/>
          <p:nvPr/>
        </p:nvSpPr>
        <p:spPr>
          <a:xfrm>
            <a:off x="7863840" y="3200400"/>
            <a:ext cx="3429000" cy="2377440"/>
          </a:xfrm>
          <a:prstGeom prst="roundRect">
            <a:avLst>
              <a:gd name="adj" fmla="val 3462"/>
            </a:avLst>
          </a:prstGeom>
          <a:solidFill>
            <a:srgbClr val="241E42"/>
          </a:solidFill>
          <a:ln w="12700">
            <a:solidFill>
              <a:srgbClr val="3A3162"/>
            </a:solidFill>
            <a:prstDash val="solid"/>
          </a:ln>
        </p:spPr>
      </p:sp>
      <p:sp>
        <p:nvSpPr>
          <p:cNvPr id="17" name="Shape 12"/>
          <p:cNvSpPr/>
          <p:nvPr/>
        </p:nvSpPr>
        <p:spPr>
          <a:xfrm>
            <a:off x="8119872" y="3456432"/>
            <a:ext cx="502920" cy="502920"/>
          </a:xfrm>
          <a:prstGeom prst="ellipse">
            <a:avLst/>
          </a:prstGeom>
          <a:solidFill>
            <a:srgbClr val="6C3CE9"/>
          </a:solidFill>
          <a:ln/>
        </p:spPr>
      </p:sp>
      <p:pic>
        <p:nvPicPr>
          <p:cNvPr id="18" name="Image 3" descr="preencoded.png"/>
          <p:cNvPicPr>
            <a:picLocks noChangeAspect="1"/>
          </p:cNvPicPr>
          <p:nvPr/>
        </p:nvPicPr>
        <p:blipFill>
          <a:blip r:embed="rId6"/>
          <a:stretch>
            <a:fillRect/>
          </a:stretch>
        </p:blipFill>
        <p:spPr>
          <a:xfrm>
            <a:off x="8247888" y="3584448"/>
            <a:ext cx="246888" cy="246888"/>
          </a:xfrm>
          <a:prstGeom prst="rect">
            <a:avLst/>
          </a:prstGeom>
        </p:spPr>
      </p:pic>
      <p:sp>
        <p:nvSpPr>
          <p:cNvPr id="19" name="Text 13"/>
          <p:cNvSpPr txBox="1"/>
          <p:nvPr/>
        </p:nvSpPr>
        <p:spPr>
          <a:xfrm>
            <a:off x="8119872" y="4114800"/>
            <a:ext cx="2916936" cy="4114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Weinig activatie</a:t>
            </a:r>
            <a:endParaRPr lang="en-US" sz="1350" dirty="0"/>
          </a:p>
        </p:txBody>
      </p:sp>
      <p:sp>
        <p:nvSpPr>
          <p:cNvPr id="20" name="Text 14"/>
          <p:cNvSpPr txBox="1"/>
          <p:nvPr/>
        </p:nvSpPr>
        <p:spPr>
          <a:xfrm>
            <a:off x="8119872" y="4572000"/>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C6BBE8"/>
                </a:solidFill>
                <a:latin typeface="Calibri" pitchFamily="34" charset="0"/>
                <a:ea typeface="Calibri" pitchFamily="34" charset="-122"/>
                <a:cs typeface="Calibri" pitchFamily="34" charset="-120"/>
              </a:rPr>
              <a:t>Heroverwegen: doelgroep of entry-point herzien</a:t>
            </a:r>
            <a:endParaRPr lang="en-US" sz="1150" dirty="0"/>
          </a:p>
        </p:txBody>
      </p:sp>
      <p:sp>
        <p:nvSpPr>
          <p:cNvPr id="21" name="Text 15"/>
          <p:cNvSpPr txBox="1"/>
          <p:nvPr/>
        </p:nvSpPr>
        <p:spPr>
          <a:xfrm>
            <a:off x="640080" y="5989320"/>
            <a:ext cx="10515600" cy="457200"/>
          </a:xfrm>
          <a:prstGeom prst="rect">
            <a:avLst/>
          </a:prstGeom>
          <a:noFill/>
          <a:ln/>
        </p:spPr>
        <p:txBody>
          <a:bodyPr wrap="square" lIns="0" tIns="0" rIns="0" bIns="0" rtlCol="0" anchor="ctr"/>
          <a:lstStyle/>
          <a:p>
            <a:pPr marL="0" indent="0">
              <a:buNone/>
            </a:pPr>
            <a:r>
              <a:rPr lang="en-US" sz="1250" i="1" dirty="0">
                <a:solidFill>
                  <a:srgbClr val="9B90C4"/>
                </a:solidFill>
                <a:latin typeface="Calibri" pitchFamily="34" charset="0"/>
                <a:ea typeface="Calibri" pitchFamily="34" charset="-122"/>
                <a:cs typeface="Calibri" pitchFamily="34" charset="-120"/>
              </a:rPr>
              <a:t>Bij een investering van deze omvang is het antwoord het snelst te vinden door — met de juridische basis netjes op orde — gewoon te bouwen en binnen 8 weken live te gaan.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1200</Words>
  <Application>Microsoft Office PowerPoint</Application>
  <PresentationFormat>Widescreen</PresentationFormat>
  <Paragraphs>191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Jean-Michel Poot - Arcona Capital</cp:lastModifiedBy>
  <cp:revision>1</cp:revision>
  <dcterms:created xsi:type="dcterms:W3CDTF">2026-08-29T08:31:31Z</dcterms:created>
  <dcterms:modified xsi:type="dcterms:W3CDTF">2026-08-29T09:08:10Z</dcterms:modified>
</cp:coreProperties>
</file>